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Calibri (MS) Bold" charset="1" panose="020F0702030404030204"/>
      <p:regular r:id="rId26"/>
    </p:embeddedFont>
    <p:embeddedFont>
      <p:font typeface="Arial" charset="1" panose="020B0604020202020204"/>
      <p:regular r:id="rId27"/>
    </p:embeddedFont>
    <p:embeddedFont>
      <p:font typeface="Arimo" charset="1" panose="020B0604020202020204"/>
      <p:regular r:id="rId28"/>
    </p:embeddedFont>
    <p:embeddedFont>
      <p:font typeface="Arial Bold" charset="1" panose="020B0704020202020204"/>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870177" y="2256415"/>
            <a:ext cx="14818890" cy="3051553"/>
          </a:xfrm>
          <a:prstGeom prst="rect">
            <a:avLst/>
          </a:prstGeom>
        </p:spPr>
        <p:txBody>
          <a:bodyPr anchor="t" rtlCol="false" tIns="0" lIns="0" bIns="0" rIns="0">
            <a:spAutoFit/>
          </a:bodyPr>
          <a:lstStyle/>
          <a:p>
            <a:pPr algn="ctr">
              <a:lnSpc>
                <a:spcPts val="10652"/>
              </a:lnSpc>
            </a:pPr>
            <a:r>
              <a:rPr lang="en-US" sz="9900" b="true">
                <a:solidFill>
                  <a:srgbClr val="000000"/>
                </a:solidFill>
                <a:latin typeface="Calibri (MS) Bold"/>
                <a:ea typeface="Calibri (MS) Bold"/>
                <a:cs typeface="Calibri (MS) Bold"/>
                <a:sym typeface="Calibri (MS) Bold"/>
              </a:rPr>
              <a:t>IBM University Engagement Project Submission</a:t>
            </a:r>
          </a:p>
        </p:txBody>
      </p:sp>
      <p:sp>
        <p:nvSpPr>
          <p:cNvPr name="TextBox 3" id="3"/>
          <p:cNvSpPr txBox="true"/>
          <p:nvPr/>
        </p:nvSpPr>
        <p:spPr>
          <a:xfrm rot="0">
            <a:off x="4276592" y="6934972"/>
            <a:ext cx="10006070" cy="447894"/>
          </a:xfrm>
          <a:prstGeom prst="rect">
            <a:avLst/>
          </a:prstGeom>
        </p:spPr>
        <p:txBody>
          <a:bodyPr anchor="t" rtlCol="false" tIns="0" lIns="0" bIns="0" rIns="0">
            <a:spAutoFit/>
          </a:bodyPr>
          <a:lstStyle/>
          <a:p>
            <a:pPr algn="ctr">
              <a:lnSpc>
                <a:spcPts val="3238"/>
              </a:lnSpc>
            </a:pPr>
            <a:r>
              <a:rPr lang="en-US" sz="2700">
                <a:solidFill>
                  <a:srgbClr val="000000"/>
                </a:solidFill>
                <a:latin typeface="Arial"/>
                <a:ea typeface="Arial"/>
                <a:cs typeface="Arial"/>
                <a:sym typeface="Arial"/>
              </a:rPr>
              <a:t>“Exploring the Power of Agentic AI with IBM Granite and IBM Bob”</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948886" y="3900473"/>
          <a:ext cx="13931900" cy="3187700"/>
        </p:xfrm>
        <a:graphic>
          <a:graphicData uri="http://schemas.openxmlformats.org/drawingml/2006/table">
            <a:tbl>
              <a:tblPr/>
              <a:tblGrid>
                <a:gridCol w="3078377"/>
                <a:gridCol w="3617841"/>
                <a:gridCol w="3617841"/>
                <a:gridCol w="3617841"/>
              </a:tblGrid>
              <a:tr h="1456952">
                <a:tc>
                  <a:txBody>
                    <a:bodyPr anchor="t" rtlCol="false"/>
                    <a:lstStyle/>
                    <a:p>
                      <a:pPr algn="ctr">
                        <a:lnSpc>
                          <a:spcPts val="3240"/>
                        </a:lnSpc>
                        <a:defRPr/>
                      </a:pPr>
                      <a:r>
                        <a:rPr lang="en-US" sz="2700">
                          <a:solidFill>
                            <a:srgbClr val="000000"/>
                          </a:solidFill>
                          <a:latin typeface="Arial"/>
                          <a:ea typeface="Arial"/>
                          <a:cs typeface="Arial"/>
                          <a:sym typeface="Arial"/>
                        </a:rPr>
                        <a:t>Student Name</a:t>
                      </a:r>
                      <a:endParaRPr lang="en-US" sz="1100"/>
                    </a:p>
                  </a:txBody>
                  <a:tcPr marL="91450" marR="91450" marT="91450" marB="9145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B9BD5"/>
                    </a:solidFill>
                  </a:tcPr>
                </a:tc>
                <a:tc>
                  <a:txBody>
                    <a:bodyPr anchor="t" rtlCol="false"/>
                    <a:lstStyle/>
                    <a:p>
                      <a:pPr algn="ctr">
                        <a:lnSpc>
                          <a:spcPts val="3240"/>
                        </a:lnSpc>
                        <a:defRPr/>
                      </a:pPr>
                      <a:r>
                        <a:rPr lang="en-US" sz="2700">
                          <a:solidFill>
                            <a:srgbClr val="000000"/>
                          </a:solidFill>
                          <a:latin typeface="Arial"/>
                          <a:ea typeface="Arial"/>
                          <a:cs typeface="Arial"/>
                          <a:sym typeface="Arial"/>
                        </a:rPr>
                        <a:t>Recent Passport Photo</a:t>
                      </a:r>
                      <a:endParaRPr lang="en-US" sz="1100"/>
                    </a:p>
                  </a:txBody>
                  <a:tcPr marL="91450" marR="91450" marT="91450" marB="9145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B9BD5"/>
                    </a:solidFill>
                  </a:tcPr>
                </a:tc>
                <a:tc>
                  <a:txBody>
                    <a:bodyPr anchor="t" rtlCol="false"/>
                    <a:lstStyle/>
                    <a:p>
                      <a:pPr algn="ctr">
                        <a:lnSpc>
                          <a:spcPts val="3240"/>
                        </a:lnSpc>
                        <a:defRPr/>
                      </a:pPr>
                      <a:r>
                        <a:rPr lang="en-US" sz="2700">
                          <a:solidFill>
                            <a:srgbClr val="000000"/>
                          </a:solidFill>
                          <a:latin typeface="Arial"/>
                          <a:ea typeface="Arial"/>
                          <a:cs typeface="Arial"/>
                          <a:sym typeface="Arial"/>
                        </a:rPr>
                        <a:t>Email ID </a:t>
                      </a:r>
                      <a:endParaRPr lang="en-US" sz="1100"/>
                    </a:p>
                  </a:txBody>
                  <a:tcPr marL="91450" marR="91450" marT="91450" marB="9145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B9BD5"/>
                    </a:solidFill>
                  </a:tcPr>
                </a:tc>
                <a:tc>
                  <a:txBody>
                    <a:bodyPr anchor="t" rtlCol="false"/>
                    <a:lstStyle/>
                    <a:p>
                      <a:pPr algn="ctr">
                        <a:lnSpc>
                          <a:spcPts val="3240"/>
                        </a:lnSpc>
                        <a:defRPr/>
                      </a:pPr>
                      <a:r>
                        <a:rPr lang="en-US" sz="2700">
                          <a:solidFill>
                            <a:srgbClr val="000000"/>
                          </a:solidFill>
                          <a:latin typeface="Arial"/>
                          <a:ea typeface="Arial"/>
                          <a:cs typeface="Arial"/>
                          <a:sym typeface="Arial"/>
                        </a:rPr>
                        <a:t>Mobile number</a:t>
                      </a:r>
                      <a:endParaRPr lang="en-US" sz="1100"/>
                    </a:p>
                    <a:p>
                      <a:pPr algn="ctr">
                        <a:lnSpc>
                          <a:spcPts val="3240"/>
                        </a:lnSpc>
                      </a:pPr>
                      <a:r>
                        <a:rPr lang="en-US" sz="2700">
                          <a:solidFill>
                            <a:srgbClr val="000000"/>
                          </a:solidFill>
                          <a:latin typeface="Arial"/>
                          <a:ea typeface="Arial"/>
                          <a:cs typeface="Arial"/>
                          <a:sym typeface="Arial"/>
                        </a:rPr>
                        <a:t>[WhatsApp] </a:t>
                      </a:r>
                    </a:p>
                  </a:txBody>
                  <a:tcPr marL="91450" marR="91450" marT="91450" marB="9145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B9BD5"/>
                    </a:solidFill>
                  </a:tcPr>
                </a:tc>
              </a:tr>
              <a:tr h="1730748">
                <a:tc>
                  <a:txBody>
                    <a:bodyPr anchor="t" rtlCol="false"/>
                    <a:lstStyle/>
                    <a:p>
                      <a:pPr algn="l">
                        <a:lnSpc>
                          <a:spcPts val="2800"/>
                        </a:lnSpc>
                        <a:defRPr/>
                      </a:pPr>
                      <a:endParaRPr lang="en-US" sz="1100"/>
                    </a:p>
                    <a:p>
                      <a:pPr algn="l">
                        <a:lnSpc>
                          <a:spcPts val="2800"/>
                        </a:lnSpc>
                      </a:pPr>
                    </a:p>
                    <a:p>
                      <a:pPr algn="l">
                        <a:lnSpc>
                          <a:spcPts val="2800"/>
                        </a:lnSpc>
                      </a:pPr>
                      <a:r>
                        <a:rPr lang="en-US" sz="2000">
                          <a:solidFill>
                            <a:srgbClr val="000000"/>
                          </a:solidFill>
                          <a:latin typeface="Arimo"/>
                          <a:ea typeface="Arimo"/>
                          <a:cs typeface="Arimo"/>
                          <a:sym typeface="Arimo"/>
                        </a:rPr>
                        <a:t>   AMEER SUHAIL K T</a:t>
                      </a:r>
                    </a:p>
                  </a:txBody>
                  <a:tcPr marL="91450" marR="91450" marT="91450" marB="9145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D0DEEF"/>
                    </a:solidFill>
                  </a:tcPr>
                </a:tc>
                <a:tc>
                  <a:txBody>
                    <a:bodyPr anchor="t" rtlCol="false"/>
                    <a:lstStyle/>
                    <a:p>
                      <a:pPr algn="l">
                        <a:lnSpc>
                          <a:spcPts val="1679"/>
                        </a:lnSpc>
                        <a:defRPr/>
                      </a:pPr>
                      <a:endParaRPr lang="en-US" sz="1100"/>
                    </a:p>
                  </a:txBody>
                  <a:tcPr marL="91450" marR="91450" marT="91450" marB="9145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D0DEEF"/>
                    </a:solidFill>
                  </a:tcPr>
                </a:tc>
                <a:tc>
                  <a:txBody>
                    <a:bodyPr anchor="t" rtlCol="false"/>
                    <a:lstStyle/>
                    <a:p>
                      <a:pPr algn="l">
                        <a:lnSpc>
                          <a:spcPts val="2657"/>
                        </a:lnSpc>
                        <a:defRPr/>
                      </a:pPr>
                      <a:endParaRPr lang="en-US" sz="1100"/>
                    </a:p>
                    <a:p>
                      <a:pPr algn="l">
                        <a:lnSpc>
                          <a:spcPts val="2657"/>
                        </a:lnSpc>
                      </a:pPr>
                    </a:p>
                    <a:p>
                      <a:pPr algn="l">
                        <a:lnSpc>
                          <a:spcPts val="2657"/>
                        </a:lnSpc>
                      </a:pPr>
                      <a:r>
                        <a:rPr lang="en-US" sz="1899">
                          <a:solidFill>
                            <a:srgbClr val="000000"/>
                          </a:solidFill>
                          <a:latin typeface="Arimo"/>
                          <a:ea typeface="Arimo"/>
                          <a:cs typeface="Arimo"/>
                          <a:sym typeface="Arimo"/>
                        </a:rPr>
                        <a:t>ameersuhail81570@gmail.com</a:t>
                      </a:r>
                    </a:p>
                  </a:txBody>
                  <a:tcPr marL="91450" marR="91450" marT="91450" marB="9145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D0DEEF"/>
                    </a:solidFill>
                  </a:tcPr>
                </a:tc>
                <a:tc>
                  <a:txBody>
                    <a:bodyPr anchor="t" rtlCol="false"/>
                    <a:lstStyle/>
                    <a:p>
                      <a:pPr algn="l">
                        <a:lnSpc>
                          <a:spcPts val="2800"/>
                        </a:lnSpc>
                        <a:defRPr/>
                      </a:pPr>
                      <a:r>
                        <a:rPr lang="en-US" sz="2000">
                          <a:solidFill>
                            <a:srgbClr val="000000"/>
                          </a:solidFill>
                          <a:latin typeface="Arimo"/>
                          <a:ea typeface="Arimo"/>
                          <a:cs typeface="Arimo"/>
                          <a:sym typeface="Arimo"/>
                        </a:rPr>
                        <a:t>         </a:t>
                      </a:r>
                      <a:endParaRPr lang="en-US" sz="1100"/>
                    </a:p>
                    <a:p>
                      <a:pPr algn="l">
                        <a:lnSpc>
                          <a:spcPts val="2800"/>
                        </a:lnSpc>
                      </a:pPr>
                    </a:p>
                    <a:p>
                      <a:pPr algn="l">
                        <a:lnSpc>
                          <a:spcPts val="2800"/>
                        </a:lnSpc>
                      </a:pPr>
                      <a:r>
                        <a:rPr lang="en-US" sz="2000">
                          <a:solidFill>
                            <a:srgbClr val="000000"/>
                          </a:solidFill>
                          <a:latin typeface="Arimo"/>
                          <a:ea typeface="Arimo"/>
                          <a:cs typeface="Arimo"/>
                          <a:sym typeface="Arimo"/>
                        </a:rPr>
                        <a:t> 7994329457</a:t>
                      </a:r>
                    </a:p>
                  </a:txBody>
                  <a:tcPr marL="91450" marR="91450" marT="91450" marB="9145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D0DEEF"/>
                    </a:solidFill>
                  </a:tcPr>
                </a:tc>
              </a:tr>
            </a:tbl>
          </a:graphicData>
        </a:graphic>
      </p:graphicFrame>
      <p:grpSp>
        <p:nvGrpSpPr>
          <p:cNvPr name="Group 3" id="3"/>
          <p:cNvGrpSpPr/>
          <p:nvPr/>
        </p:nvGrpSpPr>
        <p:grpSpPr>
          <a:xfrm rot="0">
            <a:off x="6104230" y="5507022"/>
            <a:ext cx="1143762" cy="1336072"/>
            <a:chOff x="0" y="0"/>
            <a:chExt cx="1525016" cy="1781429"/>
          </a:xfrm>
        </p:grpSpPr>
        <p:sp>
          <p:nvSpPr>
            <p:cNvPr name="Freeform 4" id="4"/>
            <p:cNvSpPr/>
            <p:nvPr/>
          </p:nvSpPr>
          <p:spPr>
            <a:xfrm flipH="false" flipV="false" rot="0">
              <a:off x="0" y="0"/>
              <a:ext cx="1525016" cy="1781429"/>
            </a:xfrm>
            <a:custGeom>
              <a:avLst/>
              <a:gdLst/>
              <a:ahLst/>
              <a:cxnLst/>
              <a:rect r="r" b="b" t="t" l="l"/>
              <a:pathLst>
                <a:path h="1781429" w="1525016">
                  <a:moveTo>
                    <a:pt x="0" y="0"/>
                  </a:moveTo>
                  <a:lnTo>
                    <a:pt x="1525016" y="0"/>
                  </a:lnTo>
                  <a:lnTo>
                    <a:pt x="1525016" y="1781429"/>
                  </a:lnTo>
                  <a:lnTo>
                    <a:pt x="0" y="1781429"/>
                  </a:lnTo>
                  <a:lnTo>
                    <a:pt x="0" y="0"/>
                  </a:lnTo>
                  <a:close/>
                </a:path>
              </a:pathLst>
            </a:custGeom>
            <a:blipFill>
              <a:blip r:embed="rId2"/>
              <a:stretch>
                <a:fillRect l="0" t="-1512" r="0" b="-1513"/>
              </a:stretch>
            </a:blipFill>
          </p:spPr>
        </p:sp>
      </p:grpSp>
      <p:sp>
        <p:nvSpPr>
          <p:cNvPr name="TextBox 5" id="5"/>
          <p:cNvSpPr txBox="true"/>
          <p:nvPr/>
        </p:nvSpPr>
        <p:spPr>
          <a:xfrm rot="0">
            <a:off x="1900685" y="2141553"/>
            <a:ext cx="15237504" cy="895455"/>
          </a:xfrm>
          <a:prstGeom prst="rect">
            <a:avLst/>
          </a:prstGeom>
        </p:spPr>
        <p:txBody>
          <a:bodyPr anchor="t" rtlCol="false" tIns="0" lIns="0" bIns="0" rIns="0">
            <a:spAutoFit/>
          </a:bodyPr>
          <a:lstStyle/>
          <a:p>
            <a:pPr algn="l">
              <a:lnSpc>
                <a:spcPts val="3357"/>
              </a:lnSpc>
            </a:pPr>
            <a:r>
              <a:rPr lang="en-US" sz="2799" b="true">
                <a:solidFill>
                  <a:srgbClr val="000000"/>
                </a:solidFill>
                <a:latin typeface="Arial Bold"/>
                <a:ea typeface="Arial Bold"/>
                <a:cs typeface="Arial Bold"/>
                <a:sym typeface="Arial Bold"/>
              </a:rPr>
              <a:t>Domain of Project –</a:t>
            </a:r>
          </a:p>
          <a:p>
            <a:pPr algn="l">
              <a:lnSpc>
                <a:spcPts val="3357"/>
              </a:lnSpc>
            </a:pPr>
            <a:r>
              <a:rPr lang="en-US" sz="2799" b="true">
                <a:solidFill>
                  <a:srgbClr val="000000"/>
                </a:solidFill>
                <a:latin typeface="Arial Bold"/>
                <a:ea typeface="Arial Bold"/>
                <a:cs typeface="Arial Bold"/>
                <a:sym typeface="Arial Bold"/>
              </a:rPr>
              <a:t> FinTech / Cyber Fraud Mitigation / Banking &amp; Personal Finance</a:t>
            </a:r>
          </a:p>
        </p:txBody>
      </p:sp>
      <p:sp>
        <p:nvSpPr>
          <p:cNvPr name="TextBox 6" id="6"/>
          <p:cNvSpPr txBox="true"/>
          <p:nvPr/>
        </p:nvSpPr>
        <p:spPr>
          <a:xfrm rot="0">
            <a:off x="1900685" y="778421"/>
            <a:ext cx="14188888" cy="952500"/>
          </a:xfrm>
          <a:prstGeom prst="rect">
            <a:avLst/>
          </a:prstGeom>
        </p:spPr>
        <p:txBody>
          <a:bodyPr anchor="t" rtlCol="false" tIns="0" lIns="0" bIns="0" rIns="0">
            <a:spAutoFit/>
          </a:bodyPr>
          <a:lstStyle/>
          <a:p>
            <a:pPr algn="l">
              <a:lnSpc>
                <a:spcPts val="3240"/>
              </a:lnSpc>
            </a:pPr>
            <a:r>
              <a:rPr lang="en-US" sz="2700" b="true">
                <a:solidFill>
                  <a:srgbClr val="000000"/>
                </a:solidFill>
                <a:latin typeface="Arial Bold"/>
                <a:ea typeface="Arial Bold"/>
                <a:cs typeface="Arial Bold"/>
                <a:sym typeface="Arial Bold"/>
              </a:rPr>
              <a:t>Project Title –</a:t>
            </a:r>
          </a:p>
          <a:p>
            <a:pPr algn="l">
              <a:lnSpc>
                <a:spcPts val="3599"/>
              </a:lnSpc>
            </a:pPr>
            <a:r>
              <a:rPr lang="en-US" sz="2999" b="true">
                <a:solidFill>
                  <a:srgbClr val="000000"/>
                </a:solidFill>
                <a:latin typeface="Arial Bold"/>
                <a:ea typeface="Arial Bold"/>
                <a:cs typeface="Arial Bold"/>
                <a:sym typeface="Arial Bold"/>
              </a:rPr>
              <a:t> FinLit AI — Institutional Digital Financial Literacy &amp; Fraud Defense Agent</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2228126"/>
            <a:ext cx="15727680" cy="6838950"/>
          </a:xfrm>
          <a:prstGeom prst="rect">
            <a:avLst/>
          </a:prstGeom>
        </p:spPr>
        <p:txBody>
          <a:bodyPr anchor="t" rtlCol="false" tIns="0" lIns="0" bIns="0" rIns="0">
            <a:spAutoFit/>
          </a:bodyPr>
          <a:lstStyle/>
          <a:p>
            <a:pPr algn="l">
              <a:lnSpc>
                <a:spcPts val="2759"/>
              </a:lnSpc>
            </a:pPr>
          </a:p>
          <a:p>
            <a:pPr algn="l">
              <a:lnSpc>
                <a:spcPts val="2759"/>
              </a:lnSpc>
            </a:pPr>
          </a:p>
          <a:p>
            <a:pPr algn="l">
              <a:lnSpc>
                <a:spcPts val="3357"/>
              </a:lnSpc>
            </a:pPr>
            <a:r>
              <a:rPr lang="en-US" sz="2799" b="true">
                <a:solidFill>
                  <a:srgbClr val="000000"/>
                </a:solidFill>
                <a:latin typeface="Arial Bold"/>
                <a:ea typeface="Arial Bold"/>
                <a:cs typeface="Arial Bold"/>
                <a:sym typeface="Arial Bold"/>
              </a:rPr>
              <a:t>The Challenge</a:t>
            </a:r>
          </a:p>
          <a:p>
            <a:pPr algn="l">
              <a:lnSpc>
                <a:spcPts val="2759"/>
              </a:lnSpc>
            </a:pPr>
          </a:p>
          <a:p>
            <a:pPr algn="l">
              <a:lnSpc>
                <a:spcPts val="2759"/>
              </a:lnSpc>
            </a:pPr>
            <a:r>
              <a:rPr lang="en-US" sz="2298">
                <a:solidFill>
                  <a:srgbClr val="000000"/>
                </a:solidFill>
                <a:latin typeface="Arial"/>
                <a:ea typeface="Arial"/>
                <a:cs typeface="Arial"/>
                <a:sym typeface="Arial"/>
              </a:rPr>
              <a:t>Digital financial literacy and fraud defense are critical for modern banking users. Many individuals struggle with identifying online scams, understanding interest rates, budgeting, and managing personal finances. Information about UPI safety, safe borrowing, and fraud prevention is often scattered across technical documents and unreliable sources.</a:t>
            </a:r>
          </a:p>
          <a:p>
            <a:pPr algn="l">
              <a:lnSpc>
                <a:spcPts val="2759"/>
              </a:lnSpc>
            </a:pPr>
          </a:p>
          <a:p>
            <a:pPr algn="l">
              <a:lnSpc>
                <a:spcPts val="2759"/>
              </a:lnSpc>
            </a:pPr>
          </a:p>
          <a:p>
            <a:pPr algn="l">
              <a:lnSpc>
                <a:spcPts val="3357"/>
              </a:lnSpc>
            </a:pPr>
            <a:r>
              <a:rPr lang="en-US" sz="2799" b="true">
                <a:solidFill>
                  <a:srgbClr val="000000"/>
                </a:solidFill>
                <a:latin typeface="Arial Bold"/>
                <a:ea typeface="Arial Bold"/>
                <a:cs typeface="Arial Bold"/>
                <a:sym typeface="Arial Bold"/>
              </a:rPr>
              <a:t>The Objective</a:t>
            </a:r>
          </a:p>
          <a:p>
            <a:pPr algn="l">
              <a:lnSpc>
                <a:spcPts val="3357"/>
              </a:lnSpc>
            </a:pPr>
          </a:p>
          <a:p>
            <a:pPr algn="l">
              <a:lnSpc>
                <a:spcPts val="2759"/>
              </a:lnSpc>
            </a:pPr>
            <a:r>
              <a:rPr lang="en-US" sz="2298">
                <a:solidFill>
                  <a:srgbClr val="000000"/>
                </a:solidFill>
                <a:latin typeface="Arial"/>
                <a:ea typeface="Arial"/>
                <a:cs typeface="Arial"/>
                <a:sym typeface="Arial"/>
              </a:rPr>
              <a:t>Build an AI-powered Digital Financial Literacy Agent that provides personalized financial guidance and fraud defense.</a:t>
            </a:r>
          </a:p>
          <a:p>
            <a:pPr algn="l">
              <a:lnSpc>
                <a:spcPts val="2759"/>
              </a:lnSpc>
            </a:pPr>
          </a:p>
          <a:p>
            <a:pPr algn="l">
              <a:lnSpc>
                <a:spcPts val="2759"/>
              </a:lnSpc>
            </a:pPr>
            <a:r>
              <a:rPr lang="en-US" sz="2298">
                <a:solidFill>
                  <a:srgbClr val="000000"/>
                </a:solidFill>
                <a:latin typeface="Arial"/>
                <a:ea typeface="Arial"/>
                <a:cs typeface="Arial"/>
                <a:sym typeface="Arial"/>
              </a:rPr>
              <a:t>• Personalized Budget Plans — 50/30/20 allocations and emergency reserves</a:t>
            </a:r>
          </a:p>
          <a:p>
            <a:pPr algn="l">
              <a:lnSpc>
                <a:spcPts val="2759"/>
              </a:lnSpc>
            </a:pPr>
            <a:r>
              <a:rPr lang="en-US" sz="2298">
                <a:solidFill>
                  <a:srgbClr val="000000"/>
                </a:solidFill>
                <a:latin typeface="Arial"/>
                <a:ea typeface="Arial"/>
                <a:cs typeface="Arial"/>
                <a:sym typeface="Arial"/>
              </a:rPr>
              <a:t>• Regulatory RAG Retrieval — Verified RBI, NPCI, and cybercrime.gov.in guidance</a:t>
            </a:r>
          </a:p>
          <a:p>
            <a:pPr algn="l">
              <a:lnSpc>
                <a:spcPts val="2759"/>
              </a:lnSpc>
            </a:pPr>
            <a:r>
              <a:rPr lang="en-US" sz="2298">
                <a:solidFill>
                  <a:srgbClr val="000000"/>
                </a:solidFill>
                <a:latin typeface="Arial"/>
                <a:ea typeface="Arial"/>
                <a:cs typeface="Arial"/>
                <a:sym typeface="Arial"/>
              </a:rPr>
              <a:t>• Scam Detection — Analyze suspicious messages and links with risk scores</a:t>
            </a:r>
          </a:p>
          <a:p>
            <a:pPr algn="l">
              <a:lnSpc>
                <a:spcPts val="2759"/>
              </a:lnSpc>
            </a:pPr>
            <a:r>
              <a:rPr lang="en-US" sz="2298">
                <a:solidFill>
                  <a:srgbClr val="000000"/>
                </a:solidFill>
                <a:latin typeface="Arial"/>
                <a:ea typeface="Arial"/>
                <a:cs typeface="Arial"/>
                <a:sym typeface="Arial"/>
              </a:rPr>
              <a:t>• Fraud Escalation — Immediate reporting guidance through 1930</a:t>
            </a:r>
          </a:p>
          <a:p>
            <a:pPr algn="l">
              <a:lnSpc>
                <a:spcPts val="2759"/>
              </a:lnSpc>
            </a:pPr>
            <a:r>
              <a:rPr lang="en-US" sz="2298">
                <a:solidFill>
                  <a:srgbClr val="000000"/>
                </a:solidFill>
                <a:latin typeface="Arial"/>
                <a:ea typeface="Arial"/>
                <a:cs typeface="Arial"/>
                <a:sym typeface="Arial"/>
              </a:rPr>
              <a:t>• Multi-Agent System — KnowledgeRetrieval, ScamGuard, BudgetPlanner, VernacularResponse</a:t>
            </a:r>
          </a:p>
          <a:p>
            <a:pPr algn="l">
              <a:lnSpc>
                <a:spcPts val="2759"/>
              </a:lnSpc>
            </a:pPr>
            <a:r>
              <a:rPr lang="en-US" sz="2298">
                <a:solidFill>
                  <a:srgbClr val="000000"/>
                </a:solidFill>
                <a:latin typeface="Arial"/>
                <a:ea typeface="Arial"/>
                <a:cs typeface="Arial"/>
                <a:sym typeface="Arial"/>
              </a:rPr>
              <a:t>• Visualization Dashboard — Budget charts, threat indicators, and agent states</a:t>
            </a:r>
          </a:p>
        </p:txBody>
      </p:sp>
      <p:sp>
        <p:nvSpPr>
          <p:cNvPr name="TextBox 3" id="3"/>
          <p:cNvSpPr txBox="true"/>
          <p:nvPr/>
        </p:nvSpPr>
        <p:spPr>
          <a:xfrm rot="0">
            <a:off x="955548" y="1006602"/>
            <a:ext cx="14790182" cy="733425"/>
          </a:xfrm>
          <a:prstGeom prst="rect">
            <a:avLst/>
          </a:prstGeom>
        </p:spPr>
        <p:txBody>
          <a:bodyPr anchor="t" rtlCol="false" tIns="0" lIns="0" bIns="0" rIns="0">
            <a:spAutoFit/>
          </a:bodyPr>
          <a:lstStyle/>
          <a:p>
            <a:pPr algn="l">
              <a:lnSpc>
                <a:spcPts val="5040"/>
              </a:lnSpc>
            </a:pPr>
            <a:r>
              <a:rPr lang="en-US" sz="4200" b="true">
                <a:solidFill>
                  <a:srgbClr val="000000"/>
                </a:solidFill>
                <a:latin typeface="Arial Bold"/>
                <a:ea typeface="Arial Bold"/>
                <a:cs typeface="Arial Bold"/>
                <a:sym typeface="Arial Bold"/>
              </a:rPr>
              <a:t>Problem Statement –AI Agent for Digital Financial Literacy</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955548" y="1849755"/>
            <a:ext cx="15727680" cy="4448175"/>
          </a:xfrm>
          <a:prstGeom prst="rect">
            <a:avLst/>
          </a:prstGeom>
        </p:spPr>
        <p:txBody>
          <a:bodyPr anchor="t" rtlCol="false" tIns="0" lIns="0" bIns="0" rIns="0">
            <a:spAutoFit/>
          </a:bodyPr>
          <a:lstStyle/>
          <a:p>
            <a:pPr algn="l">
              <a:lnSpc>
                <a:spcPts val="2520"/>
              </a:lnSpc>
            </a:pPr>
          </a:p>
          <a:p>
            <a:pPr algn="l">
              <a:lnSpc>
                <a:spcPts val="2520"/>
              </a:lnSpc>
            </a:pPr>
          </a:p>
          <a:p>
            <a:pPr algn="l">
              <a:lnSpc>
                <a:spcPts val="2520"/>
              </a:lnSpc>
            </a:pPr>
            <a:r>
              <a:rPr lang="en-US" sz="2100">
                <a:solidFill>
                  <a:srgbClr val="000000"/>
                </a:solidFill>
                <a:latin typeface="Arial"/>
                <a:ea typeface="Arial"/>
                <a:cs typeface="Arial"/>
                <a:sym typeface="Arial"/>
              </a:rPr>
              <a:t>FinLit AI is a multi-agent Financial Literacy and Fraud Defense Agent built using IBM Bob, IBM watsonx.ai, and IBM Granite models.</a:t>
            </a:r>
          </a:p>
          <a:p>
            <a:pPr algn="l">
              <a:lnSpc>
                <a:spcPts val="2520"/>
              </a:lnSpc>
            </a:pPr>
          </a:p>
          <a:p>
            <a:pPr algn="l">
              <a:lnSpc>
                <a:spcPts val="2520"/>
              </a:lnSpc>
            </a:pPr>
            <a:r>
              <a:rPr lang="en-US" sz="2100">
                <a:solidFill>
                  <a:srgbClr val="000000"/>
                </a:solidFill>
                <a:latin typeface="Arial"/>
                <a:ea typeface="Arial"/>
                <a:cs typeface="Arial"/>
                <a:sym typeface="Arial"/>
              </a:rPr>
              <a:t>A Retrieval-Augmented Generation (RAG) pipeline retrieves relevant information from trusted sources such as RBI guidelines, NPCI circulars, and cybercrime portals.</a:t>
            </a:r>
          </a:p>
          <a:p>
            <a:pPr algn="l">
              <a:lnSpc>
                <a:spcPts val="2520"/>
              </a:lnSpc>
            </a:pPr>
          </a:p>
          <a:p>
            <a:pPr algn="l">
              <a:lnSpc>
                <a:spcPts val="2520"/>
              </a:lnSpc>
            </a:pPr>
            <a:r>
              <a:rPr lang="en-US" sz="2100">
                <a:solidFill>
                  <a:srgbClr val="000000"/>
                </a:solidFill>
                <a:latin typeface="Arial"/>
                <a:ea typeface="Arial"/>
                <a:cs typeface="Arial"/>
                <a:sym typeface="Arial"/>
              </a:rPr>
              <a:t>Four Specialized Agents</a:t>
            </a:r>
          </a:p>
          <a:p>
            <a:pPr algn="l">
              <a:lnSpc>
                <a:spcPts val="2520"/>
              </a:lnSpc>
            </a:pPr>
            <a:r>
              <a:rPr lang="en-US" sz="2100">
                <a:solidFill>
                  <a:srgbClr val="000000"/>
                </a:solidFill>
                <a:latin typeface="Arial"/>
                <a:ea typeface="Arial"/>
                <a:cs typeface="Arial"/>
                <a:sym typeface="Arial"/>
              </a:rPr>
              <a:t>• KnowledgeRetrieval Agent — Retrieves and summarizes banking and UPI safety guidance</a:t>
            </a:r>
          </a:p>
          <a:p>
            <a:pPr algn="l">
              <a:lnSpc>
                <a:spcPts val="2520"/>
              </a:lnSpc>
            </a:pPr>
            <a:r>
              <a:rPr lang="en-US" sz="2100">
                <a:solidFill>
                  <a:srgbClr val="000000"/>
                </a:solidFill>
                <a:latin typeface="Arial"/>
                <a:ea typeface="Arial"/>
                <a:cs typeface="Arial"/>
                <a:sym typeface="Arial"/>
              </a:rPr>
              <a:t>• ScamGuard Agent — Analyzes suspicious messages and links to generate threat ratings</a:t>
            </a:r>
          </a:p>
          <a:p>
            <a:pPr algn="l">
              <a:lnSpc>
                <a:spcPts val="2520"/>
              </a:lnSpc>
            </a:pPr>
            <a:r>
              <a:rPr lang="en-US" sz="2100">
                <a:solidFill>
                  <a:srgbClr val="000000"/>
                </a:solidFill>
                <a:latin typeface="Arial"/>
                <a:ea typeface="Arial"/>
                <a:cs typeface="Arial"/>
                <a:sym typeface="Arial"/>
              </a:rPr>
              <a:t>• BudgetPlanner Agent — Calculates 50/30/20 budgets, emergency funds, and loan EMIs</a:t>
            </a:r>
          </a:p>
          <a:p>
            <a:pPr algn="l">
              <a:lnSpc>
                <a:spcPts val="2520"/>
              </a:lnSpc>
            </a:pPr>
            <a:r>
              <a:rPr lang="en-US" sz="2100">
                <a:solidFill>
                  <a:srgbClr val="000000"/>
                </a:solidFill>
                <a:latin typeface="Arial"/>
                <a:ea typeface="Arial"/>
                <a:cs typeface="Arial"/>
                <a:sym typeface="Arial"/>
              </a:rPr>
              <a:t>• VernacularResponse Agent — Converts complex financial information into simple guidance</a:t>
            </a:r>
          </a:p>
          <a:p>
            <a:pPr algn="l">
              <a:lnSpc>
                <a:spcPts val="2520"/>
              </a:lnSpc>
            </a:pPr>
          </a:p>
          <a:p>
            <a:pPr algn="l">
              <a:lnSpc>
                <a:spcPts val="2520"/>
              </a:lnSpc>
            </a:pPr>
            <a:r>
              <a:rPr lang="en-US" sz="2100">
                <a:solidFill>
                  <a:srgbClr val="000000"/>
                </a:solidFill>
                <a:latin typeface="Arial"/>
                <a:ea typeface="Arial"/>
                <a:cs typeface="Arial"/>
                <a:sym typeface="Arial"/>
              </a:rPr>
              <a:t>A Flask-based dashboard visualizes advice, cyber risks, financial allocations, and agent telemetry.</a:t>
            </a:r>
          </a:p>
        </p:txBody>
      </p:sp>
      <p:sp>
        <p:nvSpPr>
          <p:cNvPr name="TextBox 3" id="3"/>
          <p:cNvSpPr txBox="true"/>
          <p:nvPr/>
        </p:nvSpPr>
        <p:spPr>
          <a:xfrm rot="0">
            <a:off x="955548" y="1006602"/>
            <a:ext cx="11527517" cy="733425"/>
          </a:xfrm>
          <a:prstGeom prst="rect">
            <a:avLst/>
          </a:prstGeom>
        </p:spPr>
        <p:txBody>
          <a:bodyPr anchor="t" rtlCol="false" tIns="0" lIns="0" bIns="0" rIns="0">
            <a:spAutoFit/>
          </a:bodyPr>
          <a:lstStyle/>
          <a:p>
            <a:pPr algn="l">
              <a:lnSpc>
                <a:spcPts val="5040"/>
              </a:lnSpc>
            </a:pPr>
            <a:r>
              <a:rPr lang="en-US" sz="4200" b="true">
                <a:solidFill>
                  <a:srgbClr val="000000"/>
                </a:solidFill>
                <a:latin typeface="Arial Bold"/>
                <a:ea typeface="Arial Bold"/>
                <a:cs typeface="Arial Bold"/>
                <a:sym typeface="Arial Bold"/>
              </a:rPr>
              <a:t>Proposed Solution – AI-Powered FinLit Agent</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57300" y="677418"/>
            <a:ext cx="10501884" cy="696306"/>
          </a:xfrm>
          <a:prstGeom prst="rect">
            <a:avLst/>
          </a:prstGeom>
        </p:spPr>
        <p:txBody>
          <a:bodyPr anchor="t" rtlCol="false" tIns="0" lIns="0" bIns="0" rIns="0">
            <a:spAutoFit/>
          </a:bodyPr>
          <a:lstStyle/>
          <a:p>
            <a:pPr algn="l">
              <a:lnSpc>
                <a:spcPts val="5040"/>
              </a:lnSpc>
            </a:pPr>
            <a:r>
              <a:rPr lang="en-US" sz="4200" b="true">
                <a:solidFill>
                  <a:srgbClr val="000000"/>
                </a:solidFill>
                <a:latin typeface="Arial Bold"/>
                <a:ea typeface="Arial Bold"/>
                <a:cs typeface="Arial Bold"/>
                <a:sym typeface="Arial Bold"/>
              </a:rPr>
              <a:t>Technology Used</a:t>
            </a:r>
          </a:p>
        </p:txBody>
      </p:sp>
      <p:sp>
        <p:nvSpPr>
          <p:cNvPr name="TextBox 3" id="3"/>
          <p:cNvSpPr txBox="true"/>
          <p:nvPr/>
        </p:nvSpPr>
        <p:spPr>
          <a:xfrm rot="0">
            <a:off x="1257300" y="1808607"/>
            <a:ext cx="15590520" cy="8219989"/>
          </a:xfrm>
          <a:prstGeom prst="rect">
            <a:avLst/>
          </a:prstGeom>
        </p:spPr>
        <p:txBody>
          <a:bodyPr anchor="t" rtlCol="false" tIns="0" lIns="0" bIns="0" rIns="0">
            <a:spAutoFit/>
          </a:bodyPr>
          <a:lstStyle/>
          <a:p>
            <a:pPr algn="l" marL="897636" indent="-149606" lvl="5">
              <a:lnSpc>
                <a:spcPts val="2878"/>
              </a:lnSpc>
              <a:buFont typeface="Arial"/>
              <a:buChar char="⚬"/>
            </a:pPr>
            <a:r>
              <a:rPr lang="en-US" sz="2400">
                <a:solidFill>
                  <a:srgbClr val="000000"/>
                </a:solidFill>
                <a:latin typeface="Arial"/>
                <a:ea typeface="Arial"/>
                <a:cs typeface="Arial"/>
                <a:sym typeface="Arial"/>
              </a:rPr>
              <a:t>IBM Bob Platform — Development, scaffolding, debugging, and workflow orchestration</a:t>
            </a:r>
          </a:p>
          <a:p>
            <a:pPr algn="l" marL="897636" indent="-149606" lvl="5">
              <a:lnSpc>
                <a:spcPts val="2878"/>
              </a:lnSpc>
            </a:pPr>
          </a:p>
          <a:p>
            <a:pPr algn="l" marL="897636" indent="-149606" lvl="5">
              <a:lnSpc>
                <a:spcPts val="2878"/>
              </a:lnSpc>
            </a:pPr>
            <a:r>
              <a:rPr lang="en-US" sz="2400">
                <a:solidFill>
                  <a:srgbClr val="000000"/>
                </a:solidFill>
                <a:latin typeface="Arial"/>
                <a:ea typeface="Arial"/>
                <a:cs typeface="Arial"/>
                <a:sym typeface="Arial"/>
              </a:rPr>
              <a:t>IBM Granite Model — ibm/granite-3-8b-instruct for natural language understanding, financial reasoning, threat analysis, and summarization</a:t>
            </a:r>
          </a:p>
          <a:p>
            <a:pPr algn="l" marL="897636" indent="-149606" lvl="5">
              <a:lnSpc>
                <a:spcPts val="2878"/>
              </a:lnSpc>
            </a:pPr>
          </a:p>
          <a:p>
            <a:pPr algn="l" marL="897636" indent="-149606" lvl="5">
              <a:lnSpc>
                <a:spcPts val="2878"/>
              </a:lnSpc>
            </a:pPr>
            <a:r>
              <a:rPr lang="en-US" sz="2400">
                <a:solidFill>
                  <a:srgbClr val="000000"/>
                </a:solidFill>
                <a:latin typeface="Arial"/>
                <a:ea typeface="Arial"/>
                <a:cs typeface="Arial"/>
                <a:sym typeface="Arial"/>
              </a:rPr>
              <a:t>IBM Cloud — Reliable, secure, and scalable infrastructure</a:t>
            </a:r>
          </a:p>
          <a:p>
            <a:pPr algn="l" marL="897636" indent="-149606" lvl="5">
              <a:lnSpc>
                <a:spcPts val="2878"/>
              </a:lnSpc>
            </a:pPr>
          </a:p>
          <a:p>
            <a:pPr algn="l" marL="897636" indent="-149606" lvl="5">
              <a:lnSpc>
                <a:spcPts val="2878"/>
              </a:lnSpc>
            </a:pPr>
            <a:r>
              <a:rPr lang="en-US" sz="2400">
                <a:solidFill>
                  <a:srgbClr val="000000"/>
                </a:solidFill>
                <a:latin typeface="Arial"/>
                <a:ea typeface="Arial"/>
                <a:cs typeface="Arial"/>
                <a:sym typeface="Arial"/>
              </a:rPr>
              <a:t>RAG — Retrieves relevant regulatory information before generating context-grounded responses</a:t>
            </a:r>
          </a:p>
          <a:p>
            <a:pPr algn="l" marL="897636" indent="-149606" lvl="5">
              <a:lnSpc>
                <a:spcPts val="2878"/>
              </a:lnSpc>
            </a:pPr>
          </a:p>
          <a:p>
            <a:pPr algn="l" marL="897636" indent="-149606" lvl="5">
              <a:lnSpc>
                <a:spcPts val="2878"/>
              </a:lnSpc>
            </a:pPr>
            <a:r>
              <a:rPr lang="en-US" sz="2400">
                <a:solidFill>
                  <a:srgbClr val="000000"/>
                </a:solidFill>
                <a:latin typeface="Arial"/>
                <a:ea typeface="Arial"/>
                <a:cs typeface="Arial"/>
                <a:sym typeface="Arial"/>
              </a:rPr>
              <a:t>IBM watsonx.ai — Model inference, deployment, configuration, and AI governance</a:t>
            </a:r>
          </a:p>
          <a:p>
            <a:pPr algn="l" marL="897636" indent="-149606" lvl="5">
              <a:lnSpc>
                <a:spcPts val="2878"/>
              </a:lnSpc>
            </a:pPr>
          </a:p>
          <a:p>
            <a:pPr algn="l" marL="897636" indent="-149606" lvl="5">
              <a:lnSpc>
                <a:spcPts val="2878"/>
              </a:lnSpc>
            </a:pPr>
            <a:r>
              <a:rPr lang="en-US" sz="2400">
                <a:solidFill>
                  <a:srgbClr val="000000"/>
                </a:solidFill>
                <a:latin typeface="Arial"/>
                <a:ea typeface="Arial"/>
                <a:cs typeface="Arial"/>
                <a:sym typeface="Arial"/>
              </a:rPr>
              <a:t>TF-IDF Retrieval — Financial knowledge retrieval from curated regulatory sources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96317" y="1502797"/>
            <a:ext cx="15042547" cy="8004905"/>
            <a:chOff x="0" y="0"/>
            <a:chExt cx="20056729" cy="10673207"/>
          </a:xfrm>
        </p:grpSpPr>
        <p:sp>
          <p:nvSpPr>
            <p:cNvPr name="Freeform 3" id="3"/>
            <p:cNvSpPr/>
            <p:nvPr/>
          </p:nvSpPr>
          <p:spPr>
            <a:xfrm flipH="false" flipV="false" rot="0">
              <a:off x="0" y="0"/>
              <a:ext cx="20056729" cy="10673207"/>
            </a:xfrm>
            <a:custGeom>
              <a:avLst/>
              <a:gdLst/>
              <a:ahLst/>
              <a:cxnLst/>
              <a:rect r="r" b="b" t="t" l="l"/>
              <a:pathLst>
                <a:path h="10673207" w="20056729">
                  <a:moveTo>
                    <a:pt x="0" y="0"/>
                  </a:moveTo>
                  <a:lnTo>
                    <a:pt x="20056729" y="0"/>
                  </a:lnTo>
                  <a:lnTo>
                    <a:pt x="20056729" y="10673207"/>
                  </a:lnTo>
                  <a:lnTo>
                    <a:pt x="0" y="10673207"/>
                  </a:lnTo>
                  <a:lnTo>
                    <a:pt x="0" y="0"/>
                  </a:lnTo>
                  <a:close/>
                </a:path>
              </a:pathLst>
            </a:custGeom>
            <a:blipFill>
              <a:blip r:embed="rId2"/>
              <a:stretch>
                <a:fillRect l="0" t="-11489" r="0" b="-11489"/>
              </a:stretch>
            </a:blipFill>
          </p:spPr>
        </p:sp>
      </p:grpSp>
      <p:sp>
        <p:nvSpPr>
          <p:cNvPr name="TextBox 4" id="4"/>
          <p:cNvSpPr txBox="true"/>
          <p:nvPr/>
        </p:nvSpPr>
        <p:spPr>
          <a:xfrm rot="0">
            <a:off x="806386" y="341986"/>
            <a:ext cx="8863394" cy="815635"/>
          </a:xfrm>
          <a:prstGeom prst="rect">
            <a:avLst/>
          </a:prstGeom>
        </p:spPr>
        <p:txBody>
          <a:bodyPr anchor="t" rtlCol="false" tIns="0" lIns="0" bIns="0" rIns="0">
            <a:spAutoFit/>
          </a:bodyPr>
          <a:lstStyle/>
          <a:p>
            <a:pPr algn="l">
              <a:lnSpc>
                <a:spcPts val="4320"/>
              </a:lnSpc>
            </a:pPr>
            <a:r>
              <a:rPr lang="en-US" sz="3600" b="true">
                <a:solidFill>
                  <a:srgbClr val="000000"/>
                </a:solidFill>
                <a:latin typeface="Arial Bold"/>
                <a:ea typeface="Arial Bold"/>
                <a:cs typeface="Arial Bold"/>
                <a:sym typeface="Arial Bold"/>
              </a:rPr>
              <a:t>Required Files Created Using IBM Bob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5182" y="1293362"/>
            <a:ext cx="15077599" cy="7978997"/>
            <a:chOff x="0" y="0"/>
            <a:chExt cx="20103465" cy="10638663"/>
          </a:xfrm>
        </p:grpSpPr>
        <p:sp>
          <p:nvSpPr>
            <p:cNvPr name="Freeform 3" id="3"/>
            <p:cNvSpPr/>
            <p:nvPr/>
          </p:nvSpPr>
          <p:spPr>
            <a:xfrm flipH="false" flipV="false" rot="0">
              <a:off x="0" y="0"/>
              <a:ext cx="20103464" cy="10638663"/>
            </a:xfrm>
            <a:custGeom>
              <a:avLst/>
              <a:gdLst/>
              <a:ahLst/>
              <a:cxnLst/>
              <a:rect r="r" b="b" t="t" l="l"/>
              <a:pathLst>
                <a:path h="10638663" w="20103464">
                  <a:moveTo>
                    <a:pt x="0" y="0"/>
                  </a:moveTo>
                  <a:lnTo>
                    <a:pt x="20103464" y="0"/>
                  </a:lnTo>
                  <a:lnTo>
                    <a:pt x="20103464" y="10638663"/>
                  </a:lnTo>
                  <a:lnTo>
                    <a:pt x="0" y="10638663"/>
                  </a:lnTo>
                  <a:lnTo>
                    <a:pt x="0" y="0"/>
                  </a:lnTo>
                  <a:close/>
                </a:path>
              </a:pathLst>
            </a:custGeom>
            <a:blipFill>
              <a:blip r:embed="rId2"/>
              <a:stretch>
                <a:fillRect l="0" t="-17891" r="0" b="-17891"/>
              </a:stretch>
            </a:blipFill>
          </p:spPr>
        </p:sp>
      </p:grpSp>
      <p:sp>
        <p:nvSpPr>
          <p:cNvPr name="TextBox 4" id="4"/>
          <p:cNvSpPr txBox="true"/>
          <p:nvPr/>
        </p:nvSpPr>
        <p:spPr>
          <a:xfrm rot="0">
            <a:off x="806386" y="341986"/>
            <a:ext cx="8863394" cy="815635"/>
          </a:xfrm>
          <a:prstGeom prst="rect">
            <a:avLst/>
          </a:prstGeom>
        </p:spPr>
        <p:txBody>
          <a:bodyPr anchor="t" rtlCol="false" tIns="0" lIns="0" bIns="0" rIns="0">
            <a:spAutoFit/>
          </a:bodyPr>
          <a:lstStyle/>
          <a:p>
            <a:pPr algn="l">
              <a:lnSpc>
                <a:spcPts val="4320"/>
              </a:lnSpc>
            </a:pPr>
            <a:r>
              <a:rPr lang="en-US" sz="3600" b="true">
                <a:solidFill>
                  <a:srgbClr val="000000"/>
                </a:solidFill>
                <a:latin typeface="Arial Bold"/>
                <a:ea typeface="Arial Bold"/>
                <a:cs typeface="Arial Bold"/>
                <a:sym typeface="Arial Bold"/>
              </a:rPr>
              <a:t>IBM Bob Screenshots: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84955" y="997725"/>
            <a:ext cx="16718090" cy="8575167"/>
            <a:chOff x="0" y="0"/>
            <a:chExt cx="22290786" cy="11433556"/>
          </a:xfrm>
        </p:grpSpPr>
        <p:sp>
          <p:nvSpPr>
            <p:cNvPr name="Freeform 3" id="3"/>
            <p:cNvSpPr/>
            <p:nvPr/>
          </p:nvSpPr>
          <p:spPr>
            <a:xfrm flipH="false" flipV="false" rot="0">
              <a:off x="0" y="0"/>
              <a:ext cx="22290787" cy="11433556"/>
            </a:xfrm>
            <a:custGeom>
              <a:avLst/>
              <a:gdLst/>
              <a:ahLst/>
              <a:cxnLst/>
              <a:rect r="r" b="b" t="t" l="l"/>
              <a:pathLst>
                <a:path h="11433556" w="22290787">
                  <a:moveTo>
                    <a:pt x="0" y="0"/>
                  </a:moveTo>
                  <a:lnTo>
                    <a:pt x="22290787" y="0"/>
                  </a:lnTo>
                  <a:lnTo>
                    <a:pt x="22290787" y="11433556"/>
                  </a:lnTo>
                  <a:lnTo>
                    <a:pt x="0" y="11433556"/>
                  </a:lnTo>
                  <a:lnTo>
                    <a:pt x="0" y="0"/>
                  </a:lnTo>
                  <a:close/>
                </a:path>
              </a:pathLst>
            </a:custGeom>
            <a:blipFill>
              <a:blip r:embed="rId2"/>
              <a:stretch>
                <a:fillRect l="0" t="-3958" r="0" b="-3958"/>
              </a:stretch>
            </a:blipFill>
          </p:spPr>
        </p:sp>
      </p:grpSp>
      <p:sp>
        <p:nvSpPr>
          <p:cNvPr name="TextBox 4" id="4"/>
          <p:cNvSpPr txBox="true"/>
          <p:nvPr/>
        </p:nvSpPr>
        <p:spPr>
          <a:xfrm rot="0">
            <a:off x="1257300" y="311925"/>
            <a:ext cx="9418320" cy="685800"/>
          </a:xfrm>
          <a:prstGeom prst="rect">
            <a:avLst/>
          </a:prstGeom>
        </p:spPr>
        <p:txBody>
          <a:bodyPr anchor="t" rtlCol="false" tIns="0" lIns="0" bIns="0" rIns="0">
            <a:spAutoFit/>
          </a:bodyPr>
          <a:lstStyle/>
          <a:p>
            <a:pPr algn="l">
              <a:lnSpc>
                <a:spcPts val="4320"/>
              </a:lnSpc>
            </a:pPr>
            <a:r>
              <a:rPr lang="en-US" sz="3600">
                <a:solidFill>
                  <a:srgbClr val="000000"/>
                </a:solidFill>
                <a:latin typeface="Arial"/>
                <a:ea typeface="Arial"/>
                <a:cs typeface="Arial"/>
                <a:sym typeface="Arial"/>
              </a:rPr>
              <a:t>IBM Bob Screenshots: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3243" y="1392803"/>
            <a:ext cx="12238387" cy="8332851"/>
            <a:chOff x="0" y="0"/>
            <a:chExt cx="16317849" cy="11110468"/>
          </a:xfrm>
        </p:grpSpPr>
        <p:sp>
          <p:nvSpPr>
            <p:cNvPr name="Freeform 3" id="3"/>
            <p:cNvSpPr/>
            <p:nvPr/>
          </p:nvSpPr>
          <p:spPr>
            <a:xfrm flipH="false" flipV="false" rot="0">
              <a:off x="0" y="0"/>
              <a:ext cx="16317849" cy="11110468"/>
            </a:xfrm>
            <a:custGeom>
              <a:avLst/>
              <a:gdLst/>
              <a:ahLst/>
              <a:cxnLst/>
              <a:rect r="r" b="b" t="t" l="l"/>
              <a:pathLst>
                <a:path h="11110468" w="16317849">
                  <a:moveTo>
                    <a:pt x="0" y="0"/>
                  </a:moveTo>
                  <a:lnTo>
                    <a:pt x="16317849" y="0"/>
                  </a:lnTo>
                  <a:lnTo>
                    <a:pt x="16317849" y="11110468"/>
                  </a:lnTo>
                  <a:lnTo>
                    <a:pt x="0" y="11110468"/>
                  </a:lnTo>
                  <a:lnTo>
                    <a:pt x="0" y="0"/>
                  </a:lnTo>
                  <a:close/>
                </a:path>
              </a:pathLst>
            </a:custGeom>
            <a:blipFill>
              <a:blip r:embed="rId2"/>
              <a:stretch>
                <a:fillRect l="-1065" t="0" r="-1065" b="0"/>
              </a:stretch>
            </a:blipFill>
          </p:spPr>
        </p:sp>
      </p:grpSp>
      <p:sp>
        <p:nvSpPr>
          <p:cNvPr name="TextBox 4" id="4"/>
          <p:cNvSpPr txBox="true"/>
          <p:nvPr/>
        </p:nvSpPr>
        <p:spPr>
          <a:xfrm rot="0">
            <a:off x="806386" y="341986"/>
            <a:ext cx="8863394" cy="815635"/>
          </a:xfrm>
          <a:prstGeom prst="rect">
            <a:avLst/>
          </a:prstGeom>
        </p:spPr>
        <p:txBody>
          <a:bodyPr anchor="t" rtlCol="false" tIns="0" lIns="0" bIns="0" rIns="0">
            <a:spAutoFit/>
          </a:bodyPr>
          <a:lstStyle/>
          <a:p>
            <a:pPr algn="l">
              <a:lnSpc>
                <a:spcPts val="4320"/>
              </a:lnSpc>
            </a:pPr>
            <a:r>
              <a:rPr lang="en-US" sz="3600" b="true">
                <a:solidFill>
                  <a:srgbClr val="000000"/>
                </a:solidFill>
                <a:latin typeface="Arial Bold"/>
                <a:ea typeface="Arial Bold"/>
                <a:cs typeface="Arial Bold"/>
                <a:sym typeface="Arial Bold"/>
              </a:rPr>
              <a:t>Architecture Blueprint for IBM Bob:</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57979" y="1751238"/>
            <a:ext cx="4523042" cy="6784562"/>
            <a:chOff x="0" y="0"/>
            <a:chExt cx="6030722" cy="9046083"/>
          </a:xfrm>
        </p:grpSpPr>
        <p:sp>
          <p:nvSpPr>
            <p:cNvPr name="Freeform 3" id="3"/>
            <p:cNvSpPr/>
            <p:nvPr/>
          </p:nvSpPr>
          <p:spPr>
            <a:xfrm flipH="false" flipV="false" rot="0">
              <a:off x="0" y="0"/>
              <a:ext cx="6030722" cy="9046083"/>
            </a:xfrm>
            <a:custGeom>
              <a:avLst/>
              <a:gdLst/>
              <a:ahLst/>
              <a:cxnLst/>
              <a:rect r="r" b="b" t="t" l="l"/>
              <a:pathLst>
                <a:path h="9046083" w="6030722">
                  <a:moveTo>
                    <a:pt x="0" y="0"/>
                  </a:moveTo>
                  <a:lnTo>
                    <a:pt x="6030722" y="0"/>
                  </a:lnTo>
                  <a:lnTo>
                    <a:pt x="6030722" y="9046083"/>
                  </a:lnTo>
                  <a:lnTo>
                    <a:pt x="0" y="9046083"/>
                  </a:lnTo>
                  <a:lnTo>
                    <a:pt x="0" y="0"/>
                  </a:lnTo>
                  <a:close/>
                </a:path>
              </a:pathLst>
            </a:custGeom>
            <a:blipFill>
              <a:blip r:embed="rId2"/>
              <a:stretch>
                <a:fillRect l="0" t="-29" r="0" b="-29"/>
              </a:stretch>
            </a:blipFill>
          </p:spPr>
        </p:sp>
      </p:grpSp>
      <p:sp>
        <p:nvSpPr>
          <p:cNvPr name="TextBox 4" id="4"/>
          <p:cNvSpPr txBox="true"/>
          <p:nvPr/>
        </p:nvSpPr>
        <p:spPr>
          <a:xfrm rot="0">
            <a:off x="804672" y="375666"/>
            <a:ext cx="13793724" cy="880977"/>
          </a:xfrm>
          <a:prstGeom prst="rect">
            <a:avLst/>
          </a:prstGeom>
        </p:spPr>
        <p:txBody>
          <a:bodyPr anchor="t" rtlCol="false" tIns="0" lIns="0" bIns="0" rIns="0">
            <a:spAutoFit/>
          </a:bodyPr>
          <a:lstStyle/>
          <a:p>
            <a:pPr algn="l">
              <a:lnSpc>
                <a:spcPts val="4680"/>
              </a:lnSpc>
            </a:pPr>
            <a:r>
              <a:rPr lang="en-US" sz="3900" b="true">
                <a:solidFill>
                  <a:srgbClr val="000000"/>
                </a:solidFill>
                <a:latin typeface="Arial Bold"/>
                <a:ea typeface="Arial Bold"/>
                <a:cs typeface="Arial Bold"/>
                <a:sym typeface="Arial Bold"/>
              </a:rPr>
              <a:t>Role of Agentic AI in the Solution</a:t>
            </a:r>
          </a:p>
        </p:txBody>
      </p:sp>
      <p:sp>
        <p:nvSpPr>
          <p:cNvPr name="TextBox 5" id="5"/>
          <p:cNvSpPr txBox="true"/>
          <p:nvPr/>
        </p:nvSpPr>
        <p:spPr>
          <a:xfrm rot="0">
            <a:off x="1024128" y="1749333"/>
            <a:ext cx="10927080" cy="5114925"/>
          </a:xfrm>
          <a:prstGeom prst="rect">
            <a:avLst/>
          </a:prstGeom>
        </p:spPr>
        <p:txBody>
          <a:bodyPr anchor="t" rtlCol="false" tIns="0" lIns="0" bIns="0" rIns="0">
            <a:spAutoFit/>
          </a:bodyPr>
          <a:lstStyle/>
          <a:p>
            <a:pPr algn="l">
              <a:lnSpc>
                <a:spcPts val="2878"/>
              </a:lnSpc>
            </a:pPr>
          </a:p>
          <a:p>
            <a:pPr algn="l">
              <a:lnSpc>
                <a:spcPts val="2878"/>
              </a:lnSpc>
            </a:pPr>
          </a:p>
          <a:p>
            <a:pPr algn="l">
              <a:lnSpc>
                <a:spcPts val="2878"/>
              </a:lnSpc>
            </a:pPr>
            <a:r>
              <a:rPr lang="en-US" sz="2400">
                <a:solidFill>
                  <a:srgbClr val="000000"/>
                </a:solidFill>
                <a:latin typeface="Arial"/>
                <a:ea typeface="Arial"/>
                <a:cs typeface="Arial"/>
                <a:sym typeface="Arial"/>
              </a:rPr>
              <a:t>Agentic AI enables FinLit AI to operate as an intelligent, goal-oriented system rather than a simple chatbot. Using IBM watsonx.ai and IBM Granite models, multiple specialized agents collaborate to retrieve regulatory information, analyze suspicious messages, calculate budgets, and generate accessible financial guidance.</a:t>
            </a:r>
          </a:p>
          <a:p>
            <a:pPr algn="l">
              <a:lnSpc>
                <a:spcPts val="2878"/>
              </a:lnSpc>
            </a:pPr>
          </a:p>
          <a:p>
            <a:pPr algn="l">
              <a:lnSpc>
                <a:spcPts val="2878"/>
              </a:lnSpc>
            </a:pPr>
            <a:r>
              <a:rPr lang="en-US" sz="2400">
                <a:solidFill>
                  <a:srgbClr val="000000"/>
                </a:solidFill>
                <a:latin typeface="Arial"/>
                <a:ea typeface="Arial"/>
                <a:cs typeface="Arial"/>
                <a:sym typeface="Arial"/>
              </a:rPr>
              <a:t>The system uses user context such as income, loan information, and suspicious message transcripts to provide more relevant recommendations. Each agent performs a dedicated role while contributing to the overall decision process.</a:t>
            </a:r>
          </a:p>
          <a:p>
            <a:pPr algn="l">
              <a:lnSpc>
                <a:spcPts val="2878"/>
              </a:lnSpc>
            </a:pPr>
          </a:p>
          <a:p>
            <a:pPr algn="l">
              <a:lnSpc>
                <a:spcPts val="2878"/>
              </a:lnSpc>
            </a:pPr>
            <a:r>
              <a:rPr lang="en-US" sz="2400">
                <a:solidFill>
                  <a:srgbClr val="000000"/>
                </a:solidFill>
                <a:latin typeface="Arial"/>
                <a:ea typeface="Arial"/>
                <a:cs typeface="Arial"/>
                <a:sym typeface="Arial"/>
              </a:rPr>
              <a:t>Overall, Agentic AI makes FinLit AI proactive, personalized, context-aware, and goal-driven.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492748" y="-245764"/>
            <a:ext cx="9666742" cy="2341902"/>
          </a:xfrm>
          <a:prstGeom prst="rect">
            <a:avLst/>
          </a:prstGeom>
        </p:spPr>
        <p:txBody>
          <a:bodyPr anchor="t" rtlCol="false" tIns="0" lIns="0" bIns="0" rIns="0">
            <a:spAutoFit/>
          </a:bodyPr>
          <a:lstStyle/>
          <a:p>
            <a:pPr algn="l">
              <a:lnSpc>
                <a:spcPts val="6788"/>
              </a:lnSpc>
            </a:pPr>
            <a:r>
              <a:rPr lang="en-US" sz="3600" b="true">
                <a:solidFill>
                  <a:srgbClr val="000000"/>
                </a:solidFill>
                <a:latin typeface="Arial Bold"/>
                <a:ea typeface="Arial Bold"/>
                <a:cs typeface="Arial Bold"/>
                <a:sym typeface="Arial Bold"/>
              </a:rPr>
              <a:t>Token Usage</a:t>
            </a:r>
          </a:p>
        </p:txBody>
      </p:sp>
      <p:grpSp>
        <p:nvGrpSpPr>
          <p:cNvPr name="Group 3" id="3"/>
          <p:cNvGrpSpPr/>
          <p:nvPr/>
        </p:nvGrpSpPr>
        <p:grpSpPr>
          <a:xfrm rot="0">
            <a:off x="1028700" y="3717503"/>
            <a:ext cx="7614475" cy="6569488"/>
            <a:chOff x="0" y="0"/>
            <a:chExt cx="10152634" cy="8759317"/>
          </a:xfrm>
        </p:grpSpPr>
        <p:sp>
          <p:nvSpPr>
            <p:cNvPr name="Freeform 4" id="4"/>
            <p:cNvSpPr/>
            <p:nvPr/>
          </p:nvSpPr>
          <p:spPr>
            <a:xfrm flipH="false" flipV="false" rot="0">
              <a:off x="0" y="0"/>
              <a:ext cx="10152634" cy="8759317"/>
            </a:xfrm>
            <a:custGeom>
              <a:avLst/>
              <a:gdLst/>
              <a:ahLst/>
              <a:cxnLst/>
              <a:rect r="r" b="b" t="t" l="l"/>
              <a:pathLst>
                <a:path h="8759317" w="10152634">
                  <a:moveTo>
                    <a:pt x="0" y="0"/>
                  </a:moveTo>
                  <a:lnTo>
                    <a:pt x="10152634" y="0"/>
                  </a:lnTo>
                  <a:lnTo>
                    <a:pt x="10152634" y="8759317"/>
                  </a:lnTo>
                  <a:lnTo>
                    <a:pt x="0" y="8759317"/>
                  </a:lnTo>
                  <a:lnTo>
                    <a:pt x="0" y="0"/>
                  </a:lnTo>
                  <a:close/>
                </a:path>
              </a:pathLst>
            </a:custGeom>
            <a:blipFill>
              <a:blip r:embed="rId2"/>
              <a:stretch>
                <a:fillRect l="-850" t="0" r="-850" b="0"/>
              </a:stretch>
            </a:blipFill>
          </p:spPr>
        </p:sp>
      </p:grpSp>
      <p:grpSp>
        <p:nvGrpSpPr>
          <p:cNvPr name="Group 5" id="5"/>
          <p:cNvGrpSpPr/>
          <p:nvPr/>
        </p:nvGrpSpPr>
        <p:grpSpPr>
          <a:xfrm rot="0">
            <a:off x="9323441" y="3717503"/>
            <a:ext cx="7935849" cy="6569488"/>
            <a:chOff x="0" y="0"/>
            <a:chExt cx="10581132" cy="8759317"/>
          </a:xfrm>
        </p:grpSpPr>
        <p:sp>
          <p:nvSpPr>
            <p:cNvPr name="Freeform 6" id="6"/>
            <p:cNvSpPr/>
            <p:nvPr/>
          </p:nvSpPr>
          <p:spPr>
            <a:xfrm flipH="false" flipV="false" rot="0">
              <a:off x="0" y="0"/>
              <a:ext cx="10581132" cy="8759317"/>
            </a:xfrm>
            <a:custGeom>
              <a:avLst/>
              <a:gdLst/>
              <a:ahLst/>
              <a:cxnLst/>
              <a:rect r="r" b="b" t="t" l="l"/>
              <a:pathLst>
                <a:path h="8759317" w="10581132">
                  <a:moveTo>
                    <a:pt x="0" y="0"/>
                  </a:moveTo>
                  <a:lnTo>
                    <a:pt x="10581132" y="0"/>
                  </a:lnTo>
                  <a:lnTo>
                    <a:pt x="10581132" y="8759317"/>
                  </a:lnTo>
                  <a:lnTo>
                    <a:pt x="0" y="8759317"/>
                  </a:lnTo>
                  <a:lnTo>
                    <a:pt x="0" y="0"/>
                  </a:lnTo>
                  <a:close/>
                </a:path>
              </a:pathLst>
            </a:custGeom>
            <a:blipFill>
              <a:blip r:embed="rId3"/>
              <a:stretch>
                <a:fillRect l="0" t="-5260" r="0" b="-5260"/>
              </a:stretch>
            </a:blipFill>
          </p:spPr>
        </p:sp>
      </p:grpSp>
      <p:sp>
        <p:nvSpPr>
          <p:cNvPr name="TextBox 7" id="7"/>
          <p:cNvSpPr txBox="true"/>
          <p:nvPr/>
        </p:nvSpPr>
        <p:spPr>
          <a:xfrm rot="0">
            <a:off x="2091242" y="1539792"/>
            <a:ext cx="3931920" cy="556346"/>
          </a:xfrm>
          <a:prstGeom prst="rect">
            <a:avLst/>
          </a:prstGeom>
        </p:spPr>
        <p:txBody>
          <a:bodyPr anchor="t" rtlCol="false" tIns="0" lIns="0" bIns="0" rIns="0">
            <a:spAutoFit/>
          </a:bodyPr>
          <a:lstStyle/>
          <a:p>
            <a:pPr algn="l">
              <a:lnSpc>
                <a:spcPts val="2878"/>
              </a:lnSpc>
            </a:pPr>
            <a:r>
              <a:rPr lang="en-US" sz="2400" b="true">
                <a:solidFill>
                  <a:srgbClr val="000000"/>
                </a:solidFill>
                <a:latin typeface="Arial Bold"/>
                <a:ea typeface="Arial Bold"/>
                <a:cs typeface="Arial Bold"/>
                <a:sym typeface="Arial Bold"/>
              </a:rPr>
              <a:t>Before Prompt</a:t>
            </a:r>
          </a:p>
        </p:txBody>
      </p:sp>
      <p:sp>
        <p:nvSpPr>
          <p:cNvPr name="TextBox 8" id="8"/>
          <p:cNvSpPr txBox="true"/>
          <p:nvPr/>
        </p:nvSpPr>
        <p:spPr>
          <a:xfrm rot="0">
            <a:off x="10545118" y="1539792"/>
            <a:ext cx="3931920" cy="556346"/>
          </a:xfrm>
          <a:prstGeom prst="rect">
            <a:avLst/>
          </a:prstGeom>
        </p:spPr>
        <p:txBody>
          <a:bodyPr anchor="t" rtlCol="false" tIns="0" lIns="0" bIns="0" rIns="0">
            <a:spAutoFit/>
          </a:bodyPr>
          <a:lstStyle/>
          <a:p>
            <a:pPr algn="l">
              <a:lnSpc>
                <a:spcPts val="2878"/>
              </a:lnSpc>
            </a:pPr>
            <a:r>
              <a:rPr lang="en-US" sz="2400" b="true">
                <a:solidFill>
                  <a:srgbClr val="000000"/>
                </a:solidFill>
                <a:latin typeface="Arial Bold"/>
                <a:ea typeface="Arial Bold"/>
                <a:cs typeface="Arial Bold"/>
                <a:sym typeface="Arial Bold"/>
              </a:rPr>
              <a:t>After the Prompt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28010" y="-270839"/>
            <a:ext cx="9666742" cy="2341902"/>
          </a:xfrm>
          <a:prstGeom prst="rect">
            <a:avLst/>
          </a:prstGeom>
        </p:spPr>
        <p:txBody>
          <a:bodyPr anchor="t" rtlCol="false" tIns="0" lIns="0" bIns="0" rIns="0">
            <a:spAutoFit/>
          </a:bodyPr>
          <a:lstStyle/>
          <a:p>
            <a:pPr algn="l">
              <a:lnSpc>
                <a:spcPts val="6788"/>
              </a:lnSpc>
            </a:pPr>
            <a:r>
              <a:rPr lang="en-US" sz="3600" b="true">
                <a:solidFill>
                  <a:srgbClr val="000000"/>
                </a:solidFill>
                <a:latin typeface="Arial Bold"/>
                <a:ea typeface="Arial Bold"/>
                <a:cs typeface="Arial Bold"/>
                <a:sym typeface="Arial Bold"/>
              </a:rPr>
              <a:t>Project Output Screenshot</a:t>
            </a:r>
          </a:p>
        </p:txBody>
      </p:sp>
      <p:grpSp>
        <p:nvGrpSpPr>
          <p:cNvPr name="Group 3" id="3"/>
          <p:cNvGrpSpPr/>
          <p:nvPr/>
        </p:nvGrpSpPr>
        <p:grpSpPr>
          <a:xfrm rot="0">
            <a:off x="1028700" y="1028700"/>
            <a:ext cx="13826992" cy="8987617"/>
            <a:chOff x="0" y="0"/>
            <a:chExt cx="16881094" cy="10972800"/>
          </a:xfrm>
        </p:grpSpPr>
        <p:sp>
          <p:nvSpPr>
            <p:cNvPr name="Freeform 4" id="4"/>
            <p:cNvSpPr/>
            <p:nvPr/>
          </p:nvSpPr>
          <p:spPr>
            <a:xfrm flipH="false" flipV="false" rot="0">
              <a:off x="0" y="0"/>
              <a:ext cx="16881094" cy="10972800"/>
            </a:xfrm>
            <a:custGeom>
              <a:avLst/>
              <a:gdLst/>
              <a:ahLst/>
              <a:cxnLst/>
              <a:rect r="r" b="b" t="t" l="l"/>
              <a:pathLst>
                <a:path h="10972800" w="16881094">
                  <a:moveTo>
                    <a:pt x="0" y="0"/>
                  </a:moveTo>
                  <a:lnTo>
                    <a:pt x="16881094" y="0"/>
                  </a:lnTo>
                  <a:lnTo>
                    <a:pt x="16881094" y="10972800"/>
                  </a:lnTo>
                  <a:lnTo>
                    <a:pt x="0" y="10972800"/>
                  </a:lnTo>
                  <a:lnTo>
                    <a:pt x="0" y="0"/>
                  </a:lnTo>
                  <a:close/>
                </a:path>
              </a:pathLst>
            </a:custGeom>
            <a:blipFill>
              <a:blip r:embed="rId2"/>
              <a:stretch>
                <a:fillRect l="-475" t="0" r="-475" b="0"/>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51819" y="359782"/>
            <a:ext cx="9666742" cy="2341902"/>
          </a:xfrm>
          <a:prstGeom prst="rect">
            <a:avLst/>
          </a:prstGeom>
        </p:spPr>
        <p:txBody>
          <a:bodyPr anchor="t" rtlCol="false" tIns="0" lIns="0" bIns="0" rIns="0">
            <a:spAutoFit/>
          </a:bodyPr>
          <a:lstStyle/>
          <a:p>
            <a:pPr algn="l">
              <a:lnSpc>
                <a:spcPts val="6788"/>
              </a:lnSpc>
            </a:pPr>
            <a:r>
              <a:rPr lang="en-US" sz="3600" b="true">
                <a:solidFill>
                  <a:srgbClr val="000000"/>
                </a:solidFill>
                <a:latin typeface="Arial Bold"/>
                <a:ea typeface="Arial Bold"/>
                <a:cs typeface="Arial Bold"/>
                <a:sym typeface="Arial Bold"/>
              </a:rPr>
              <a:t>Project Output Screenshot</a:t>
            </a:r>
          </a:p>
        </p:txBody>
      </p:sp>
      <p:sp>
        <p:nvSpPr>
          <p:cNvPr name="Freeform 3" id="3"/>
          <p:cNvSpPr/>
          <p:nvPr/>
        </p:nvSpPr>
        <p:spPr>
          <a:xfrm flipH="false" flipV="false" rot="0">
            <a:off x="1028700" y="1659321"/>
            <a:ext cx="13801761" cy="8470831"/>
          </a:xfrm>
          <a:custGeom>
            <a:avLst/>
            <a:gdLst/>
            <a:ahLst/>
            <a:cxnLst/>
            <a:rect r="r" b="b" t="t" l="l"/>
            <a:pathLst>
              <a:path h="8470831" w="13801761">
                <a:moveTo>
                  <a:pt x="0" y="0"/>
                </a:moveTo>
                <a:lnTo>
                  <a:pt x="13801761" y="0"/>
                </a:lnTo>
                <a:lnTo>
                  <a:pt x="13801761" y="8470830"/>
                </a:lnTo>
                <a:lnTo>
                  <a:pt x="0" y="8470830"/>
                </a:lnTo>
                <a:lnTo>
                  <a:pt x="0" y="0"/>
                </a:lnTo>
                <a:close/>
              </a:path>
            </a:pathLst>
          </a:custGeom>
          <a:blipFill>
            <a:blip r:embed="rId2"/>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0" y="-270839"/>
            <a:ext cx="9666742" cy="2341902"/>
          </a:xfrm>
          <a:prstGeom prst="rect">
            <a:avLst/>
          </a:prstGeom>
        </p:spPr>
        <p:txBody>
          <a:bodyPr anchor="t" rtlCol="false" tIns="0" lIns="0" bIns="0" rIns="0">
            <a:spAutoFit/>
          </a:bodyPr>
          <a:lstStyle/>
          <a:p>
            <a:pPr algn="l">
              <a:lnSpc>
                <a:spcPts val="6788"/>
              </a:lnSpc>
            </a:pPr>
            <a:r>
              <a:rPr lang="en-US" sz="3600" b="true">
                <a:solidFill>
                  <a:srgbClr val="000000"/>
                </a:solidFill>
                <a:latin typeface="Arial Bold"/>
                <a:ea typeface="Arial Bold"/>
                <a:cs typeface="Arial Bold"/>
                <a:sym typeface="Arial Bold"/>
              </a:rPr>
              <a:t>Project Output Screenshot</a:t>
            </a:r>
          </a:p>
        </p:txBody>
      </p:sp>
      <p:grpSp>
        <p:nvGrpSpPr>
          <p:cNvPr name="Group 3" id="3"/>
          <p:cNvGrpSpPr/>
          <p:nvPr/>
        </p:nvGrpSpPr>
        <p:grpSpPr>
          <a:xfrm rot="0">
            <a:off x="2291753" y="1028700"/>
            <a:ext cx="12205613" cy="9005782"/>
            <a:chOff x="0" y="0"/>
            <a:chExt cx="15683611" cy="11571986"/>
          </a:xfrm>
        </p:grpSpPr>
        <p:sp>
          <p:nvSpPr>
            <p:cNvPr name="Freeform 4" id="4"/>
            <p:cNvSpPr/>
            <p:nvPr/>
          </p:nvSpPr>
          <p:spPr>
            <a:xfrm flipH="false" flipV="false" rot="0">
              <a:off x="0" y="0"/>
              <a:ext cx="15683612" cy="11571986"/>
            </a:xfrm>
            <a:custGeom>
              <a:avLst/>
              <a:gdLst/>
              <a:ahLst/>
              <a:cxnLst/>
              <a:rect r="r" b="b" t="t" l="l"/>
              <a:pathLst>
                <a:path h="11571986" w="15683612">
                  <a:moveTo>
                    <a:pt x="0" y="0"/>
                  </a:moveTo>
                  <a:lnTo>
                    <a:pt x="15683612" y="0"/>
                  </a:lnTo>
                  <a:lnTo>
                    <a:pt x="15683612" y="11571986"/>
                  </a:lnTo>
                  <a:lnTo>
                    <a:pt x="0" y="11571986"/>
                  </a:lnTo>
                  <a:lnTo>
                    <a:pt x="0" y="0"/>
                  </a:lnTo>
                  <a:close/>
                </a:path>
              </a:pathLst>
            </a:custGeom>
            <a:blipFill>
              <a:blip r:embed="rId2"/>
              <a:stretch>
                <a:fillRect l="0" t="-2518" r="0" b="-2518"/>
              </a:stretch>
            </a:blipFill>
          </p:spPr>
        </p:sp>
      </p:gr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57300" y="677418"/>
            <a:ext cx="10501884" cy="696306"/>
          </a:xfrm>
          <a:prstGeom prst="rect">
            <a:avLst/>
          </a:prstGeom>
        </p:spPr>
        <p:txBody>
          <a:bodyPr anchor="t" rtlCol="false" tIns="0" lIns="0" bIns="0" rIns="0">
            <a:spAutoFit/>
          </a:bodyPr>
          <a:lstStyle/>
          <a:p>
            <a:pPr algn="l">
              <a:lnSpc>
                <a:spcPts val="5040"/>
              </a:lnSpc>
            </a:pPr>
            <a:r>
              <a:rPr lang="en-US" sz="4200" b="true">
                <a:solidFill>
                  <a:srgbClr val="000000"/>
                </a:solidFill>
                <a:latin typeface="Arial Bold"/>
                <a:ea typeface="Arial Bold"/>
                <a:cs typeface="Arial Bold"/>
                <a:sym typeface="Arial Bold"/>
              </a:rPr>
              <a:t>Novelty and Uniqueness</a:t>
            </a:r>
          </a:p>
        </p:txBody>
      </p:sp>
      <p:sp>
        <p:nvSpPr>
          <p:cNvPr name="TextBox 3" id="3"/>
          <p:cNvSpPr txBox="true"/>
          <p:nvPr/>
        </p:nvSpPr>
        <p:spPr>
          <a:xfrm rot="0">
            <a:off x="1257300" y="1760982"/>
            <a:ext cx="15408059" cy="4210050"/>
          </a:xfrm>
          <a:prstGeom prst="rect">
            <a:avLst/>
          </a:prstGeom>
        </p:spPr>
        <p:txBody>
          <a:bodyPr anchor="t" rtlCol="false" tIns="0" lIns="0" bIns="0" rIns="0">
            <a:spAutoFit/>
          </a:bodyPr>
          <a:lstStyle/>
          <a:p>
            <a:pPr algn="l">
              <a:lnSpc>
                <a:spcPts val="2700"/>
              </a:lnSpc>
            </a:pPr>
            <a:r>
              <a:rPr lang="en-US" sz="2250" b="true">
                <a:solidFill>
                  <a:srgbClr val="000000"/>
                </a:solidFill>
                <a:latin typeface="Arial Bold"/>
                <a:ea typeface="Arial Bold"/>
                <a:cs typeface="Arial Bold"/>
                <a:sym typeface="Arial Bold"/>
              </a:rPr>
              <a:t>The proposed FinLit Agent stands out by combining Agentic AI, RAG, digital financial literacy, and fraud defense into one intelligent system.</a:t>
            </a:r>
          </a:p>
          <a:p>
            <a:pPr algn="l">
              <a:lnSpc>
                <a:spcPts val="2700"/>
              </a:lnSpc>
            </a:pPr>
          </a:p>
          <a:p>
            <a:pPr algn="l">
              <a:lnSpc>
                <a:spcPts val="2700"/>
              </a:lnSpc>
            </a:pPr>
            <a:r>
              <a:rPr lang="en-US" sz="2250">
                <a:solidFill>
                  <a:srgbClr val="000000"/>
                </a:solidFill>
                <a:latin typeface="Arial"/>
                <a:ea typeface="Arial"/>
                <a:cs typeface="Arial"/>
                <a:sym typeface="Arial"/>
              </a:rPr>
              <a:t>• Multi-Agent Intelligence — Specialized agents collaborate for context-aware guidance</a:t>
            </a:r>
          </a:p>
          <a:p>
            <a:pPr algn="l">
              <a:lnSpc>
                <a:spcPts val="2700"/>
              </a:lnSpc>
            </a:pPr>
            <a:r>
              <a:rPr lang="en-US" sz="2250">
                <a:solidFill>
                  <a:srgbClr val="000000"/>
                </a:solidFill>
                <a:latin typeface="Arial"/>
                <a:ea typeface="Arial"/>
                <a:cs typeface="Arial"/>
                <a:sym typeface="Arial"/>
              </a:rPr>
              <a:t>• RAG-Based Accuracy — Relevant regulatory knowledge is retrieved before response generation</a:t>
            </a:r>
          </a:p>
          <a:p>
            <a:pPr algn="l">
              <a:lnSpc>
                <a:spcPts val="2700"/>
              </a:lnSpc>
            </a:pPr>
            <a:r>
              <a:rPr lang="en-US" sz="2250">
                <a:solidFill>
                  <a:srgbClr val="000000"/>
                </a:solidFill>
                <a:latin typeface="Arial"/>
                <a:ea typeface="Arial"/>
                <a:cs typeface="Arial"/>
                <a:sym typeface="Arial"/>
              </a:rPr>
              <a:t>• Hyper-Personalization — Financial guidance adapts to user inputs</a:t>
            </a:r>
          </a:p>
          <a:p>
            <a:pPr algn="l">
              <a:lnSpc>
                <a:spcPts val="2700"/>
              </a:lnSpc>
            </a:pPr>
            <a:r>
              <a:rPr lang="en-US" sz="2250">
                <a:solidFill>
                  <a:srgbClr val="000000"/>
                </a:solidFill>
                <a:latin typeface="Arial"/>
                <a:ea typeface="Arial"/>
                <a:cs typeface="Arial"/>
                <a:sym typeface="Arial"/>
              </a:rPr>
              <a:t>• Real-Time Threat Heuristics — Suspicious messages and links are evaluated for scam indicators</a:t>
            </a:r>
          </a:p>
          <a:p>
            <a:pPr algn="l">
              <a:lnSpc>
                <a:spcPts val="2700"/>
              </a:lnSpc>
            </a:pPr>
            <a:r>
              <a:rPr lang="en-US" sz="2250">
                <a:solidFill>
                  <a:srgbClr val="000000"/>
                </a:solidFill>
                <a:latin typeface="Arial"/>
                <a:ea typeface="Arial"/>
                <a:cs typeface="Arial"/>
                <a:sym typeface="Arial"/>
              </a:rPr>
              <a:t>• Fraud Escalation Guidance — Immediate reporting guidance through 1930</a:t>
            </a:r>
          </a:p>
          <a:p>
            <a:pPr algn="l">
              <a:lnSpc>
                <a:spcPts val="2700"/>
              </a:lnSpc>
            </a:pPr>
            <a:r>
              <a:rPr lang="en-US" sz="2250">
                <a:solidFill>
                  <a:srgbClr val="000000"/>
                </a:solidFill>
                <a:latin typeface="Arial"/>
                <a:ea typeface="Arial"/>
                <a:cs typeface="Arial"/>
                <a:sym typeface="Arial"/>
              </a:rPr>
              <a:t>• Financial Literacy + Cyber Defense — Combines finance education and fraud prevention</a:t>
            </a:r>
          </a:p>
          <a:p>
            <a:pPr algn="l">
              <a:lnSpc>
                <a:spcPts val="2700"/>
              </a:lnSpc>
            </a:pPr>
            <a:r>
              <a:rPr lang="en-US" sz="2250">
                <a:solidFill>
                  <a:srgbClr val="000000"/>
                </a:solidFill>
                <a:latin typeface="Arial"/>
                <a:ea typeface="Arial"/>
                <a:cs typeface="Arial"/>
                <a:sym typeface="Arial"/>
              </a:rPr>
              <a:t>• Scalable Architecture — Built with watsonx.ai, Granite models, and modular agents</a:t>
            </a:r>
          </a:p>
          <a:p>
            <a:pPr algn="l">
              <a:lnSpc>
                <a:spcPts val="2700"/>
              </a:lnSpc>
            </a:pPr>
          </a:p>
          <a:p>
            <a:pPr algn="l">
              <a:lnSpc>
                <a:spcPts val="2700"/>
              </a:lnSpc>
            </a:pPr>
            <a:r>
              <a:rPr lang="en-US" sz="2250">
                <a:solidFill>
                  <a:srgbClr val="000000"/>
                </a:solidFill>
                <a:latin typeface="Arial"/>
                <a:ea typeface="Arial"/>
                <a:cs typeface="Arial"/>
                <a:sym typeface="Arial"/>
              </a:rPr>
              <a:t>FinLit AI is designed as a proactive digital financial assistant rather than a static advice tool.</a:t>
            </a:r>
          </a:p>
        </p:txBody>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924479" y="-13449"/>
            <a:ext cx="9666742" cy="2341902"/>
          </a:xfrm>
          <a:prstGeom prst="rect">
            <a:avLst/>
          </a:prstGeom>
        </p:spPr>
        <p:txBody>
          <a:bodyPr anchor="t" rtlCol="false" tIns="0" lIns="0" bIns="0" rIns="0">
            <a:spAutoFit/>
          </a:bodyPr>
          <a:lstStyle/>
          <a:p>
            <a:pPr algn="l">
              <a:lnSpc>
                <a:spcPts val="6788"/>
              </a:lnSpc>
            </a:pPr>
            <a:r>
              <a:rPr lang="en-US" sz="3600" b="true">
                <a:solidFill>
                  <a:srgbClr val="000000"/>
                </a:solidFill>
                <a:latin typeface="Arial Bold"/>
                <a:ea typeface="Arial Bold"/>
                <a:cs typeface="Arial Bold"/>
                <a:sym typeface="Arial Bold"/>
              </a:rPr>
              <a:t>GitHub Link</a:t>
            </a:r>
          </a:p>
        </p:txBody>
      </p:sp>
      <p:sp>
        <p:nvSpPr>
          <p:cNvPr name="TextBox 3" id="3"/>
          <p:cNvSpPr txBox="true"/>
          <p:nvPr/>
        </p:nvSpPr>
        <p:spPr>
          <a:xfrm rot="0">
            <a:off x="2233070" y="1985553"/>
            <a:ext cx="13821870" cy="7272747"/>
          </a:xfrm>
          <a:prstGeom prst="rect">
            <a:avLst/>
          </a:prstGeom>
        </p:spPr>
        <p:txBody>
          <a:bodyPr anchor="t" rtlCol="false" tIns="0" lIns="0" bIns="0" rIns="0">
            <a:spAutoFit/>
          </a:bodyPr>
          <a:lstStyle/>
          <a:p>
            <a:pPr algn="l">
              <a:lnSpc>
                <a:spcPts val="4378"/>
              </a:lnSpc>
            </a:pPr>
            <a:r>
              <a:rPr lang="en-US" sz="2250">
                <a:solidFill>
                  <a:srgbClr val="000000"/>
                </a:solidFill>
                <a:latin typeface="Arial"/>
                <a:ea typeface="Arial"/>
                <a:cs typeface="Arial"/>
                <a:sym typeface="Arial"/>
              </a:rPr>
              <a:t>Public GitHub Repository:</a:t>
            </a:r>
          </a:p>
          <a:p>
            <a:pPr algn="l">
              <a:lnSpc>
                <a:spcPts val="4378"/>
              </a:lnSpc>
            </a:pPr>
            <a:r>
              <a:rPr lang="en-US" sz="2250">
                <a:solidFill>
                  <a:srgbClr val="000000"/>
                </a:solidFill>
                <a:latin typeface="Arial"/>
                <a:ea typeface="Arial"/>
                <a:cs typeface="Arial"/>
                <a:sym typeface="Arial"/>
              </a:rPr>
              <a:t>https://github.com/Ameersuhail799/FinLit-Agent</a:t>
            </a:r>
          </a:p>
          <a:p>
            <a:pPr algn="l">
              <a:lnSpc>
                <a:spcPts val="4378"/>
              </a:lnSpc>
            </a:pPr>
          </a:p>
          <a:p>
            <a:pPr algn="l">
              <a:lnSpc>
                <a:spcPts val="4378"/>
              </a:lnSpc>
            </a:pPr>
            <a:r>
              <a:rPr lang="en-US" sz="2250">
                <a:solidFill>
                  <a:srgbClr val="000000"/>
                </a:solidFill>
                <a:latin typeface="Arial"/>
                <a:ea typeface="Arial"/>
                <a:cs typeface="Arial"/>
                <a:sym typeface="Arial"/>
              </a:rPr>
              <a:t>Uploaded Deliverables:</a:t>
            </a:r>
          </a:p>
          <a:p>
            <a:pPr algn="l">
              <a:lnSpc>
                <a:spcPts val="4378"/>
              </a:lnSpc>
            </a:pPr>
            <a:r>
              <a:rPr lang="en-US" sz="2250">
                <a:solidFill>
                  <a:srgbClr val="000000"/>
                </a:solidFill>
                <a:latin typeface="Arial"/>
                <a:ea typeface="Arial"/>
                <a:cs typeface="Arial"/>
                <a:sym typeface="Arial"/>
              </a:rPr>
              <a:t>• Agent source files: app.py, index.html, style.css, app.js, requirements.txt, .env.example</a:t>
            </a:r>
          </a:p>
          <a:p>
            <a:pPr algn="l">
              <a:lnSpc>
                <a:spcPts val="4378"/>
              </a:lnSpc>
            </a:pPr>
            <a:r>
              <a:rPr lang="en-US" sz="2250">
                <a:solidFill>
                  <a:srgbClr val="000000"/>
                </a:solidFill>
                <a:latin typeface="Arial"/>
                <a:ea typeface="Arial"/>
                <a:cs typeface="Arial"/>
                <a:sym typeface="Arial"/>
              </a:rPr>
              <a:t>• Curated Knowledge Base: financial_literacy_kb.md</a:t>
            </a:r>
          </a:p>
          <a:p>
            <a:pPr algn="l">
              <a:lnSpc>
                <a:spcPts val="4378"/>
              </a:lnSpc>
            </a:pPr>
            <a:r>
              <a:rPr lang="en-US" sz="2250">
                <a:solidFill>
                  <a:srgbClr val="000000"/>
                </a:solidFill>
                <a:latin typeface="Arial"/>
                <a:ea typeface="Arial"/>
                <a:cs typeface="Arial"/>
                <a:sym typeface="Arial"/>
              </a:rPr>
              <a:t>• Problem Statement PDF: Problem_Statement_7.pdf</a:t>
            </a:r>
          </a:p>
          <a:p>
            <a:pPr algn="l">
              <a:lnSpc>
                <a:spcPts val="4378"/>
              </a:lnSpc>
            </a:pPr>
            <a:r>
              <a:rPr lang="en-US" sz="2250">
                <a:solidFill>
                  <a:srgbClr val="000000"/>
                </a:solidFill>
                <a:latin typeface="Arial"/>
                <a:ea typeface="Arial"/>
                <a:cs typeface="Arial"/>
                <a:sym typeface="Arial"/>
              </a:rPr>
              <a:t>• Project Presentation</a:t>
            </a:r>
          </a:p>
          <a:p>
            <a:pPr algn="l">
              <a:lnSpc>
                <a:spcPts val="4378"/>
              </a:lnSpc>
            </a:pPr>
            <a:r>
              <a:rPr lang="en-US" sz="2250">
                <a:solidFill>
                  <a:srgbClr val="000000"/>
                </a:solidFill>
                <a:latin typeface="Arial"/>
                <a:ea typeface="Arial"/>
                <a:cs typeface="Arial"/>
                <a:sym typeface="Arial"/>
              </a:rPr>
              <a:t>• README.md with architecture, setup guide, and technical documentation</a:t>
            </a:r>
          </a:p>
        </p:txBody>
      </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497578" y="514350"/>
            <a:ext cx="9666742" cy="2341902"/>
          </a:xfrm>
          <a:prstGeom prst="rect">
            <a:avLst/>
          </a:prstGeom>
        </p:spPr>
        <p:txBody>
          <a:bodyPr anchor="t" rtlCol="false" tIns="0" lIns="0" bIns="0" rIns="0">
            <a:spAutoFit/>
          </a:bodyPr>
          <a:lstStyle/>
          <a:p>
            <a:pPr algn="l">
              <a:lnSpc>
                <a:spcPts val="6788"/>
              </a:lnSpc>
            </a:pPr>
            <a:r>
              <a:rPr lang="en-US" sz="3600" b="true">
                <a:solidFill>
                  <a:srgbClr val="000000"/>
                </a:solidFill>
                <a:latin typeface="Arial Bold"/>
                <a:ea typeface="Arial Bold"/>
                <a:cs typeface="Arial Bold"/>
                <a:sym typeface="Arial Bold"/>
              </a:rPr>
              <a:t>Future Scope</a:t>
            </a:r>
          </a:p>
        </p:txBody>
      </p:sp>
      <p:sp>
        <p:nvSpPr>
          <p:cNvPr name="TextBox 3" id="3"/>
          <p:cNvSpPr txBox="true"/>
          <p:nvPr/>
        </p:nvSpPr>
        <p:spPr>
          <a:xfrm rot="0">
            <a:off x="1497578" y="2966628"/>
            <a:ext cx="13821870" cy="7320372"/>
          </a:xfrm>
          <a:prstGeom prst="rect">
            <a:avLst/>
          </a:prstGeom>
        </p:spPr>
        <p:txBody>
          <a:bodyPr anchor="t" rtlCol="false" tIns="0" lIns="0" bIns="0" rIns="0">
            <a:spAutoFit/>
          </a:bodyPr>
          <a:lstStyle/>
          <a:p>
            <a:pPr algn="l">
              <a:lnSpc>
                <a:spcPts val="4669"/>
              </a:lnSpc>
            </a:pPr>
            <a:r>
              <a:rPr lang="en-US" sz="2400">
                <a:solidFill>
                  <a:srgbClr val="000000"/>
                </a:solidFill>
                <a:latin typeface="Arial"/>
                <a:ea typeface="Arial"/>
                <a:cs typeface="Arial"/>
                <a:sym typeface="Arial"/>
              </a:rPr>
              <a:t>1. Omnichannel Messaging Integration (WhatsApp &amp; Telegram)</a:t>
            </a:r>
          </a:p>
          <a:p>
            <a:pPr algn="l">
              <a:lnSpc>
                <a:spcPts val="4669"/>
              </a:lnSpc>
            </a:pPr>
            <a:r>
              <a:rPr lang="en-US" sz="2400">
                <a:solidFill>
                  <a:srgbClr val="000000"/>
                </a:solidFill>
                <a:latin typeface="Arial"/>
                <a:ea typeface="Arial"/>
                <a:cs typeface="Arial"/>
                <a:sym typeface="Arial"/>
              </a:rPr>
              <a:t>The ScamGuard Agent can be integrated with messaging platforms through appropriate APIs, allowing users to forward suspicious messages for faster analysis and safety guidance.</a:t>
            </a:r>
          </a:p>
          <a:p>
            <a:pPr algn="l">
              <a:lnSpc>
                <a:spcPts val="4669"/>
              </a:lnSpc>
            </a:pPr>
          </a:p>
          <a:p>
            <a:pPr algn="l">
              <a:lnSpc>
                <a:spcPts val="4669"/>
              </a:lnSpc>
            </a:pPr>
            <a:r>
              <a:rPr lang="en-US" sz="2400">
                <a:solidFill>
                  <a:srgbClr val="000000"/>
                </a:solidFill>
                <a:latin typeface="Arial"/>
                <a:ea typeface="Arial"/>
                <a:cs typeface="Arial"/>
                <a:sym typeface="Arial"/>
              </a:rPr>
              <a:t>2. AI-Powered Voice Assistant &amp; Multilingual Support</a:t>
            </a:r>
          </a:p>
          <a:p>
            <a:pPr algn="l">
              <a:lnSpc>
                <a:spcPts val="4669"/>
              </a:lnSpc>
            </a:pPr>
            <a:r>
              <a:rPr lang="en-US" sz="2400">
                <a:solidFill>
                  <a:srgbClr val="000000"/>
                </a:solidFill>
                <a:latin typeface="Arial"/>
                <a:ea typeface="Arial"/>
                <a:cs typeface="Arial"/>
                <a:sym typeface="Arial"/>
              </a:rPr>
              <a:t>Future versions can support voice interaction and regional languages such as Hindi, Malayalam, Tamil, and Bengali to improve accessibility and inclusion.</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83368" y="213912"/>
            <a:ext cx="8961120" cy="1067095"/>
          </a:xfrm>
          <a:prstGeom prst="rect">
            <a:avLst/>
          </a:prstGeom>
        </p:spPr>
        <p:txBody>
          <a:bodyPr anchor="t" rtlCol="false" tIns="0" lIns="0" bIns="0" rIns="0">
            <a:spAutoFit/>
          </a:bodyPr>
          <a:lstStyle/>
          <a:p>
            <a:pPr algn="l">
              <a:lnSpc>
                <a:spcPts val="4320"/>
              </a:lnSpc>
            </a:pPr>
            <a:r>
              <a:rPr lang="en-US" sz="3600" b="true">
                <a:solidFill>
                  <a:srgbClr val="000000"/>
                </a:solidFill>
                <a:latin typeface="Arial Bold"/>
                <a:ea typeface="Arial Bold"/>
                <a:cs typeface="Arial Bold"/>
                <a:sym typeface="Arial Bold"/>
              </a:rPr>
              <a:t>Certificates Earned:</a:t>
            </a:r>
          </a:p>
        </p:txBody>
      </p:sp>
      <p:grpSp>
        <p:nvGrpSpPr>
          <p:cNvPr name="Group 3" id="3"/>
          <p:cNvGrpSpPr/>
          <p:nvPr/>
        </p:nvGrpSpPr>
        <p:grpSpPr>
          <a:xfrm rot="0">
            <a:off x="3472967" y="1281008"/>
            <a:ext cx="9584912" cy="8373618"/>
            <a:chOff x="0" y="0"/>
            <a:chExt cx="12779883" cy="11164824"/>
          </a:xfrm>
        </p:grpSpPr>
        <p:sp>
          <p:nvSpPr>
            <p:cNvPr name="Freeform 4" id="4"/>
            <p:cNvSpPr/>
            <p:nvPr/>
          </p:nvSpPr>
          <p:spPr>
            <a:xfrm flipH="false" flipV="false" rot="0">
              <a:off x="0" y="0"/>
              <a:ext cx="12779883" cy="11164824"/>
            </a:xfrm>
            <a:custGeom>
              <a:avLst/>
              <a:gdLst/>
              <a:ahLst/>
              <a:cxnLst/>
              <a:rect r="r" b="b" t="t" l="l"/>
              <a:pathLst>
                <a:path h="11164824" w="12779883">
                  <a:moveTo>
                    <a:pt x="0" y="0"/>
                  </a:moveTo>
                  <a:lnTo>
                    <a:pt x="12779883" y="0"/>
                  </a:lnTo>
                  <a:lnTo>
                    <a:pt x="12779883" y="11164824"/>
                  </a:lnTo>
                  <a:lnTo>
                    <a:pt x="0" y="11164824"/>
                  </a:lnTo>
                  <a:lnTo>
                    <a:pt x="0" y="0"/>
                  </a:lnTo>
                  <a:close/>
                </a:path>
              </a:pathLst>
            </a:custGeom>
            <a:blipFill>
              <a:blip r:embed="rId2"/>
              <a:stretch>
                <a:fillRect l="0" t="-15287" r="0" b="-15287"/>
              </a:stretch>
            </a:blipFill>
          </p:spPr>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211468" y="2601420"/>
            <a:ext cx="10201656" cy="10192322"/>
            <a:chOff x="0" y="0"/>
            <a:chExt cx="13602208" cy="13589762"/>
          </a:xfrm>
        </p:grpSpPr>
        <p:sp>
          <p:nvSpPr>
            <p:cNvPr name="Freeform 3" id="3"/>
            <p:cNvSpPr/>
            <p:nvPr/>
          </p:nvSpPr>
          <p:spPr>
            <a:xfrm flipH="false" flipV="false" rot="0">
              <a:off x="0" y="0"/>
              <a:ext cx="13602208" cy="13589763"/>
            </a:xfrm>
            <a:custGeom>
              <a:avLst/>
              <a:gdLst/>
              <a:ahLst/>
              <a:cxnLst/>
              <a:rect r="r" b="b" t="t" l="l"/>
              <a:pathLst>
                <a:path h="13589763" w="13602208">
                  <a:moveTo>
                    <a:pt x="0" y="0"/>
                  </a:moveTo>
                  <a:lnTo>
                    <a:pt x="13602208" y="0"/>
                  </a:lnTo>
                  <a:lnTo>
                    <a:pt x="13602208" y="13589763"/>
                  </a:lnTo>
                  <a:lnTo>
                    <a:pt x="0" y="13589763"/>
                  </a:lnTo>
                  <a:lnTo>
                    <a:pt x="0" y="0"/>
                  </a:lnTo>
                  <a:close/>
                </a:path>
              </a:pathLst>
            </a:custGeom>
            <a:blipFill>
              <a:blip r:embed="rId2"/>
              <a:stretch>
                <a:fillRect l="-1430" t="0" r="-1430" b="0"/>
              </a:stretch>
            </a:blipFill>
          </p:spPr>
        </p:sp>
      </p:grpSp>
      <p:sp>
        <p:nvSpPr>
          <p:cNvPr name="TextBox 4" id="4"/>
          <p:cNvSpPr txBox="true"/>
          <p:nvPr/>
        </p:nvSpPr>
        <p:spPr>
          <a:xfrm rot="0">
            <a:off x="356483" y="242430"/>
            <a:ext cx="8961120" cy="1067095"/>
          </a:xfrm>
          <a:prstGeom prst="rect">
            <a:avLst/>
          </a:prstGeom>
        </p:spPr>
        <p:txBody>
          <a:bodyPr anchor="t" rtlCol="false" tIns="0" lIns="0" bIns="0" rIns="0">
            <a:spAutoFit/>
          </a:bodyPr>
          <a:lstStyle/>
          <a:p>
            <a:pPr algn="l">
              <a:lnSpc>
                <a:spcPts val="4320"/>
              </a:lnSpc>
            </a:pPr>
            <a:r>
              <a:rPr lang="en-US" sz="3600" b="true">
                <a:solidFill>
                  <a:srgbClr val="000000"/>
                </a:solidFill>
                <a:latin typeface="Arial Bold"/>
                <a:ea typeface="Arial Bold"/>
                <a:cs typeface="Arial Bold"/>
                <a:sym typeface="Arial Bold"/>
              </a:rPr>
              <a:t>Certificates Earned:</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7189" y="3109065"/>
            <a:ext cx="18288000" cy="3716084"/>
            <a:chOff x="0" y="0"/>
            <a:chExt cx="24384000" cy="4954778"/>
          </a:xfrm>
        </p:grpSpPr>
        <p:sp>
          <p:nvSpPr>
            <p:cNvPr name="Freeform 3" id="3"/>
            <p:cNvSpPr/>
            <p:nvPr/>
          </p:nvSpPr>
          <p:spPr>
            <a:xfrm flipH="false" flipV="false" rot="0">
              <a:off x="0" y="0"/>
              <a:ext cx="24384000" cy="4954778"/>
            </a:xfrm>
            <a:custGeom>
              <a:avLst/>
              <a:gdLst/>
              <a:ahLst/>
              <a:cxnLst/>
              <a:rect r="r" b="b" t="t" l="l"/>
              <a:pathLst>
                <a:path h="4954778" w="24384000">
                  <a:moveTo>
                    <a:pt x="0" y="0"/>
                  </a:moveTo>
                  <a:lnTo>
                    <a:pt x="24384000" y="0"/>
                  </a:lnTo>
                  <a:lnTo>
                    <a:pt x="24384000" y="4954778"/>
                  </a:lnTo>
                  <a:lnTo>
                    <a:pt x="0" y="4954778"/>
                  </a:lnTo>
                  <a:lnTo>
                    <a:pt x="0" y="0"/>
                  </a:lnTo>
                  <a:close/>
                </a:path>
              </a:pathLst>
            </a:custGeom>
            <a:blipFill>
              <a:blip r:embed="rId2"/>
              <a:stretch>
                <a:fillRect l="0" t="0" r="0"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DAHUt04ZsNA</dc:identifier>
  <dcterms:modified xsi:type="dcterms:W3CDTF">2011-08-01T06:04:30Z</dcterms:modified>
  <cp:revision>1</cp:revision>
</cp:coreProperties>
</file>